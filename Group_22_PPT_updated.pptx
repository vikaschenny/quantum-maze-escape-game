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4" d="100"/>
          <a:sy n="164" d="100"/>
        </p:scale>
        <p:origin x="93" y="1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3233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914400"/>
            <a:ext cx="4114800" cy="4114800"/>
          </a:xfrm>
          <a:prstGeom prst="ellipse">
            <a:avLst/>
          </a:prstGeom>
          <a:solidFill>
            <a:srgbClr val="9C27B0">
              <a:alpha val="10000"/>
            </a:srgbClr>
          </a:solidFill>
          <a:ln w="12700">
            <a:solidFill>
              <a:srgbClr val="9C27B0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00E5FF">
              <a:alpha val="8000"/>
            </a:srgbClr>
          </a:solidFill>
          <a:ln w="12700">
            <a:solidFill>
              <a:srgbClr val="00E5F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3657600"/>
            <a:ext cx="2743200" cy="2743200"/>
          </a:xfrm>
          <a:prstGeom prst="ellipse">
            <a:avLst/>
          </a:prstGeom>
          <a:solidFill>
            <a:srgbClr val="FF4FA3">
              <a:alpha val="6000"/>
            </a:srgbClr>
          </a:solidFill>
          <a:ln w="12700">
            <a:solidFill>
              <a:srgbClr val="FF4FA3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256032"/>
            <a:ext cx="1737360" cy="329184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5603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GROUP 22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6858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</a:rPr>
              <a:t>QUANTUM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00E5FF"/>
                </a:solidFill>
              </a:rPr>
              <a:t>MAZE ESCAPE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65760" y="324612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Browser-Based Quantum-Mechanics Puzzle Game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3749040"/>
            <a:ext cx="4572000" cy="22860"/>
          </a:xfrm>
          <a:prstGeom prst="rect">
            <a:avLst/>
          </a:prstGeom>
          <a:solidFill>
            <a:srgbClr val="00E5FF">
              <a:alpha val="70000"/>
            </a:srgbClr>
          </a:solidFill>
          <a:ln w="12700">
            <a:solidFill>
              <a:srgbClr val="00E5FF">
                <a:alpha val="7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8221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</a:rPr>
              <a:t>Team Members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4096512"/>
            <a:ext cx="100584" cy="100584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407822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Chennaiah Birru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" y="4251960"/>
            <a:ext cx="100584" cy="100584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423367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FFFFFF"/>
                </a:solidFill>
              </a:rPr>
              <a:t>Raveendra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" y="4407408"/>
            <a:ext cx="100584" cy="100584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438912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FFFFFF"/>
                </a:solidFill>
              </a:rPr>
              <a:t>Sachin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4048" y="4562856"/>
            <a:ext cx="100584" cy="100584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454456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Sri Ram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" y="470001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0" y="914400"/>
            <a:ext cx="466344" cy="466344"/>
          </a:xfrm>
          <a:prstGeom prst="rect">
            <a:avLst/>
          </a:prstGeom>
          <a:solidFill>
            <a:srgbClr val="0D2040"/>
          </a:solidFill>
          <a:ln w="5080">
            <a:solidFill>
              <a:srgbClr val="00E5FF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37376" y="914400"/>
            <a:ext cx="466344" cy="466344"/>
          </a:xfrm>
          <a:prstGeom prst="rect">
            <a:avLst/>
          </a:prstGeom>
          <a:solidFill>
            <a:srgbClr val="0D2040"/>
          </a:solidFill>
          <a:ln w="5080">
            <a:solidFill>
              <a:srgbClr val="00E5FF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31152" y="914400"/>
            <a:ext cx="466344" cy="466344"/>
          </a:xfrm>
          <a:prstGeom prst="rect">
            <a:avLst/>
          </a:prstGeom>
          <a:solidFill>
            <a:srgbClr val="060B1A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24928" y="914400"/>
            <a:ext cx="466344" cy="466344"/>
          </a:xfrm>
          <a:prstGeom prst="rect">
            <a:avLst/>
          </a:prstGeom>
          <a:solidFill>
            <a:srgbClr val="0D2040"/>
          </a:solidFill>
          <a:ln w="5080">
            <a:solidFill>
              <a:srgbClr val="00E5FF">
                <a:alpha val="3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18704" y="914400"/>
            <a:ext cx="466344" cy="466344"/>
          </a:xfrm>
          <a:prstGeom prst="rect">
            <a:avLst/>
          </a:prstGeom>
          <a:solidFill>
            <a:srgbClr val="0D2040"/>
          </a:solidFill>
          <a:ln w="5080">
            <a:solidFill>
              <a:srgbClr val="00E5FF">
                <a:alpha val="3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12480" y="914400"/>
            <a:ext cx="466344" cy="466344"/>
          </a:xfrm>
          <a:prstGeom prst="rect">
            <a:avLst/>
          </a:prstGeom>
          <a:solidFill>
            <a:srgbClr val="060B1A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0" y="1408176"/>
            <a:ext cx="466344" cy="466344"/>
          </a:xfrm>
          <a:prstGeom prst="rect">
            <a:avLst/>
          </a:prstGeom>
          <a:solidFill>
            <a:srgbClr val="060B1A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37376" y="1408176"/>
            <a:ext cx="466344" cy="466344"/>
          </a:xfrm>
          <a:prstGeom prst="rect">
            <a:avLst/>
          </a:prstGeom>
          <a:solidFill>
            <a:srgbClr val="0D2040"/>
          </a:solidFill>
          <a:ln w="5080">
            <a:solidFill>
              <a:srgbClr val="00E5FF">
                <a:alpha val="3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31152" y="1408176"/>
            <a:ext cx="466344" cy="466344"/>
          </a:xfrm>
          <a:prstGeom prst="rect">
            <a:avLst/>
          </a:prstGeom>
          <a:solidFill>
            <a:srgbClr val="060B1A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24928" y="1408176"/>
            <a:ext cx="466344" cy="466344"/>
          </a:xfrm>
          <a:prstGeom prst="rect">
            <a:avLst/>
          </a:prstGeom>
          <a:solidFill>
            <a:srgbClr val="0D2040"/>
          </a:solidFill>
          <a:ln w="5080">
            <a:solidFill>
              <a:srgbClr val="00E5FF">
                <a:alpha val="3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18704" y="1408176"/>
            <a:ext cx="466344" cy="466344"/>
          </a:xfrm>
          <a:prstGeom prst="rect">
            <a:avLst/>
          </a:prstGeom>
          <a:solidFill>
            <a:srgbClr val="0D2040"/>
          </a:solidFill>
          <a:ln w="5080">
            <a:solidFill>
              <a:srgbClr val="00E5FF">
                <a:alpha val="3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12480" y="1408176"/>
            <a:ext cx="466344" cy="466344"/>
          </a:xfrm>
          <a:prstGeom prst="rect">
            <a:avLst/>
          </a:prstGeom>
          <a:solidFill>
            <a:srgbClr val="060B1A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43600" y="1901952"/>
            <a:ext cx="466344" cy="466344"/>
          </a:xfrm>
          <a:prstGeom prst="rect">
            <a:avLst/>
          </a:prstGeom>
          <a:solidFill>
            <a:srgbClr val="060B1A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37376" y="1901952"/>
            <a:ext cx="466344" cy="466344"/>
          </a:xfrm>
          <a:prstGeom prst="rect">
            <a:avLst/>
          </a:prstGeom>
          <a:solidFill>
            <a:srgbClr val="0D2040"/>
          </a:solidFill>
          <a:ln w="5080">
            <a:solidFill>
              <a:srgbClr val="00E5FF">
                <a:alpha val="3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31152" y="1901952"/>
            <a:ext cx="466344" cy="466344"/>
          </a:xfrm>
          <a:prstGeom prst="rect">
            <a:avLst/>
          </a:prstGeom>
          <a:solidFill>
            <a:srgbClr val="0D2040"/>
          </a:solidFill>
          <a:ln w="5080">
            <a:solidFill>
              <a:srgbClr val="00E5FF">
                <a:alpha val="3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24928" y="1901952"/>
            <a:ext cx="466344" cy="466344"/>
          </a:xfrm>
          <a:prstGeom prst="rect">
            <a:avLst/>
          </a:prstGeom>
          <a:solidFill>
            <a:srgbClr val="0D2040"/>
          </a:solidFill>
          <a:ln w="5080">
            <a:solidFill>
              <a:srgbClr val="00E5FF">
                <a:alpha val="3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18704" y="1901952"/>
            <a:ext cx="466344" cy="466344"/>
          </a:xfrm>
          <a:prstGeom prst="rect">
            <a:avLst/>
          </a:prstGeom>
          <a:solidFill>
            <a:srgbClr val="060B1A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0" y="1901952"/>
            <a:ext cx="466344" cy="466344"/>
          </a:xfrm>
          <a:prstGeom prst="rect">
            <a:avLst/>
          </a:prstGeom>
          <a:solidFill>
            <a:srgbClr val="060B1A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43600" y="2395728"/>
            <a:ext cx="466344" cy="466344"/>
          </a:xfrm>
          <a:prstGeom prst="rect">
            <a:avLst/>
          </a:prstGeom>
          <a:solidFill>
            <a:srgbClr val="060B1A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37376" y="2395728"/>
            <a:ext cx="466344" cy="466344"/>
          </a:xfrm>
          <a:prstGeom prst="rect">
            <a:avLst/>
          </a:prstGeom>
          <a:solidFill>
            <a:srgbClr val="0D2040"/>
          </a:solidFill>
          <a:ln w="5080">
            <a:solidFill>
              <a:srgbClr val="00E5FF">
                <a:alpha val="3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31152" y="2395728"/>
            <a:ext cx="466344" cy="466344"/>
          </a:xfrm>
          <a:prstGeom prst="rect">
            <a:avLst/>
          </a:prstGeom>
          <a:solidFill>
            <a:srgbClr val="060B1A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424928" y="2395728"/>
            <a:ext cx="466344" cy="466344"/>
          </a:xfrm>
          <a:prstGeom prst="rect">
            <a:avLst/>
          </a:prstGeom>
          <a:solidFill>
            <a:srgbClr val="0D2040"/>
          </a:solidFill>
          <a:ln w="5080">
            <a:solidFill>
              <a:srgbClr val="00E5FF">
                <a:alpha val="3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918704" y="2395728"/>
            <a:ext cx="466344" cy="466344"/>
          </a:xfrm>
          <a:prstGeom prst="rect">
            <a:avLst/>
          </a:prstGeom>
          <a:solidFill>
            <a:srgbClr val="0D2040"/>
          </a:solidFill>
          <a:ln w="5080">
            <a:solidFill>
              <a:srgbClr val="00E5FF">
                <a:alpha val="3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412480" y="2395728"/>
            <a:ext cx="466344" cy="466344"/>
          </a:xfrm>
          <a:prstGeom prst="rect">
            <a:avLst/>
          </a:prstGeom>
          <a:solidFill>
            <a:srgbClr val="060B1A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43600" y="2889504"/>
            <a:ext cx="466344" cy="466344"/>
          </a:xfrm>
          <a:prstGeom prst="rect">
            <a:avLst/>
          </a:prstGeom>
          <a:solidFill>
            <a:srgbClr val="060B1A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37376" y="2889504"/>
            <a:ext cx="466344" cy="466344"/>
          </a:xfrm>
          <a:prstGeom prst="rect">
            <a:avLst/>
          </a:prstGeom>
          <a:solidFill>
            <a:srgbClr val="0D2040"/>
          </a:solidFill>
          <a:ln w="5080">
            <a:solidFill>
              <a:srgbClr val="00E5FF">
                <a:alpha val="3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931152" y="2889504"/>
            <a:ext cx="466344" cy="466344"/>
          </a:xfrm>
          <a:prstGeom prst="rect">
            <a:avLst/>
          </a:prstGeom>
          <a:solidFill>
            <a:srgbClr val="0D2040"/>
          </a:solidFill>
          <a:ln w="5080">
            <a:solidFill>
              <a:srgbClr val="00E5FF">
                <a:alpha val="3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424928" y="2889504"/>
            <a:ext cx="466344" cy="466344"/>
          </a:xfrm>
          <a:prstGeom prst="rect">
            <a:avLst/>
          </a:prstGeom>
          <a:solidFill>
            <a:srgbClr val="060B1A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918704" y="2889504"/>
            <a:ext cx="466344" cy="466344"/>
          </a:xfrm>
          <a:prstGeom prst="rect">
            <a:avLst/>
          </a:prstGeom>
          <a:solidFill>
            <a:srgbClr val="0D2040"/>
          </a:solidFill>
          <a:ln w="5080">
            <a:solidFill>
              <a:srgbClr val="00E5FF">
                <a:alpha val="3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412480" y="2889504"/>
            <a:ext cx="466344" cy="466344"/>
          </a:xfrm>
          <a:prstGeom prst="rect">
            <a:avLst/>
          </a:prstGeom>
          <a:solidFill>
            <a:srgbClr val="060B1A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943600" y="3383280"/>
            <a:ext cx="466344" cy="466344"/>
          </a:xfrm>
          <a:prstGeom prst="rect">
            <a:avLst/>
          </a:prstGeom>
          <a:solidFill>
            <a:srgbClr val="060B1A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437376" y="3383280"/>
            <a:ext cx="466344" cy="466344"/>
          </a:xfrm>
          <a:prstGeom prst="rect">
            <a:avLst/>
          </a:prstGeom>
          <a:solidFill>
            <a:srgbClr val="060B1A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931152" y="3383280"/>
            <a:ext cx="466344" cy="466344"/>
          </a:xfrm>
          <a:prstGeom prst="rect">
            <a:avLst/>
          </a:prstGeom>
          <a:solidFill>
            <a:srgbClr val="0D2040"/>
          </a:solidFill>
          <a:ln w="5080">
            <a:solidFill>
              <a:srgbClr val="00E5FF">
                <a:alpha val="3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424928" y="3383280"/>
            <a:ext cx="466344" cy="466344"/>
          </a:xfrm>
          <a:prstGeom prst="rect">
            <a:avLst/>
          </a:prstGeom>
          <a:solidFill>
            <a:srgbClr val="0D2040"/>
          </a:solidFill>
          <a:ln w="5080">
            <a:solidFill>
              <a:srgbClr val="00E5FF">
                <a:alpha val="3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918704" y="3383280"/>
            <a:ext cx="466344" cy="466344"/>
          </a:xfrm>
          <a:prstGeom prst="rect">
            <a:avLst/>
          </a:prstGeom>
          <a:solidFill>
            <a:srgbClr val="0D2040"/>
          </a:solidFill>
          <a:ln w="5080">
            <a:solidFill>
              <a:srgbClr val="00E5FF">
                <a:alpha val="3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412480" y="3383280"/>
            <a:ext cx="466344" cy="466344"/>
          </a:xfrm>
          <a:prstGeom prst="rect">
            <a:avLst/>
          </a:prstGeom>
          <a:solidFill>
            <a:srgbClr val="0D2040"/>
          </a:solidFill>
          <a:ln w="5080">
            <a:solidFill>
              <a:srgbClr val="00E5FF">
                <a:alpha val="35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044184" y="1014984"/>
            <a:ext cx="292608" cy="29260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031736" y="1508760"/>
            <a:ext cx="292608" cy="292608"/>
          </a:xfrm>
          <a:prstGeom prst="ellipse">
            <a:avLst/>
          </a:prstGeom>
          <a:solidFill>
            <a:srgbClr val="00E5FF">
              <a:alpha val="4500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537960" y="2496312"/>
            <a:ext cx="292608" cy="292608"/>
          </a:xfrm>
          <a:prstGeom prst="ellipse">
            <a:avLst/>
          </a:prstGeom>
          <a:solidFill>
            <a:srgbClr val="9C27B0">
              <a:alpha val="52000"/>
            </a:srgbClr>
          </a:solidFill>
          <a:ln w="12700">
            <a:solidFill>
              <a:srgbClr val="9C27B0">
                <a:alpha val="52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412480" y="33832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4FA3"/>
                </a:solidFill>
              </a:rPr>
              <a:t>★</a:t>
            </a:r>
            <a:endParaRPr lang="en-US" sz="2000" dirty="0"/>
          </a:p>
        </p:txBody>
      </p:sp>
      <p:sp>
        <p:nvSpPr>
          <p:cNvPr id="61" name="Text 59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0A4AE"/>
                </a:solidFill>
              </a:rPr>
              <a:t>Vanilla HTML · CSS · JavaScript · Web Audio API · localStorage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20117"/>
          </a:xfrm>
          <a:prstGeom prst="rect">
            <a:avLst/>
          </a:prstGeom>
          <a:solidFill>
            <a:srgbClr val="00E5FF">
              <a:alpha val="4500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96112"/>
            <a:ext cx="8412480" cy="1261872"/>
          </a:xfrm>
          <a:prstGeom prst="rect">
            <a:avLst/>
          </a:prstGeom>
          <a:solidFill>
            <a:srgbClr val="0F1F40"/>
          </a:solidFill>
          <a:ln w="7620">
            <a:solidFill>
              <a:srgbClr val="00E5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33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88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⚠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261872" y="987552"/>
            <a:ext cx="54864" cy="105156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9875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600"/>
                </a:solidFill>
              </a:rPr>
              <a:t>Abstract Concepts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1371600"/>
            <a:ext cx="7178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Quantum computing ideas — superposition, measurement, entanglement — are notoriously hard to grasp through equations and text alone.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8412480" cy="1261872"/>
          </a:xfrm>
          <a:prstGeom prst="rect">
            <a:avLst/>
          </a:prstGeom>
          <a:solidFill>
            <a:srgbClr val="0F1F40"/>
          </a:solidFill>
          <a:ln w="7620">
            <a:solidFill>
              <a:srgbClr val="00E5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33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57860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🎮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261872" y="2377440"/>
            <a:ext cx="54864" cy="105156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732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5FF"/>
                </a:solidFill>
              </a:rPr>
              <a:t>Missing Accessible Medium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17320" y="2761488"/>
            <a:ext cx="7178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No engaging, zero-install browser game exists that teaches quantum behaviour through direct, tactile interaction.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3675888"/>
            <a:ext cx="8412480" cy="1261872"/>
          </a:xfrm>
          <a:prstGeom prst="rect">
            <a:avLst/>
          </a:prstGeom>
          <a:solidFill>
            <a:srgbClr val="0F1F40"/>
          </a:solidFill>
          <a:ln w="7620">
            <a:solidFill>
              <a:srgbClr val="00E5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33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396849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🧩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1261872" y="3767328"/>
            <a:ext cx="54864" cy="1051560"/>
          </a:xfrm>
          <a:prstGeom prst="rect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17320" y="37673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4FA3"/>
                </a:solidFill>
              </a:rPr>
              <a:t>Gamification Gap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4151376"/>
            <a:ext cx="7178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Traditional maze/puzzle games use purely deterministic rules — no tool demonstrates the probabilistic, non-classical nature of quantum systems.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65760" y="5230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FF4FA3"/>
                </a:solidFill>
              </a:rPr>
              <a:t>Solution: Make quantum ideas tangible through play — 100 levels, 6 difficulty modes, real quantum-mechanics vocabulary.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Concepts → Game Mechanics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20117"/>
          </a:xfrm>
          <a:prstGeom prst="rect">
            <a:avLst/>
          </a:prstGeom>
          <a:solidFill>
            <a:srgbClr val="00E5FF">
              <a:alpha val="4500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41248"/>
            <a:ext cx="2816352" cy="4297680"/>
          </a:xfrm>
          <a:prstGeom prst="rect">
            <a:avLst/>
          </a:prstGeom>
          <a:solidFill>
            <a:srgbClr val="0F1F40"/>
          </a:solidFill>
          <a:ln w="7620">
            <a:solidFill>
              <a:srgbClr val="00E5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33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41248"/>
            <a:ext cx="2816352" cy="777240"/>
          </a:xfrm>
          <a:prstGeom prst="rect">
            <a:avLst/>
          </a:prstGeom>
          <a:solidFill>
            <a:srgbClr val="00E5FF">
              <a:alpha val="25000"/>
            </a:srgbClr>
          </a:solidFill>
          <a:ln w="12700">
            <a:solidFill>
              <a:srgbClr val="00E5FF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77824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⚛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96112" y="877824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E5FF"/>
                </a:solidFill>
              </a:rPr>
              <a:t>Superposition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84048" y="1719072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0A4AE"/>
                </a:solidFill>
              </a:rPr>
              <a:t>Quantum Physics: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" y="1975104"/>
            <a:ext cx="2596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 particle exists in multiple states simultaneously until observed.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2816352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E5FF"/>
                </a:solidFill>
              </a:rPr>
              <a:t>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84048" y="316382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E5FF"/>
                </a:solidFill>
              </a:rPr>
              <a:t>In-Game: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4048" y="3419856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Split (S key)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" y="3712464"/>
            <a:ext cx="25968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</a:rPr>
              <a:t>Player splits into 2–3 ghost tokens that occupy different cells at once — all move in parallel every turn.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18688" y="841248"/>
            <a:ext cx="2816352" cy="4297680"/>
          </a:xfrm>
          <a:prstGeom prst="rect">
            <a:avLst/>
          </a:prstGeom>
          <a:solidFill>
            <a:srgbClr val="0F1F40"/>
          </a:solidFill>
          <a:ln w="7620">
            <a:solidFill>
              <a:srgbClr val="00E5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33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18688" y="841248"/>
            <a:ext cx="2816352" cy="777240"/>
          </a:xfrm>
          <a:prstGeom prst="rect">
            <a:avLst/>
          </a:prstGeom>
          <a:solidFill>
            <a:srgbClr val="9C27B0">
              <a:alpha val="25000"/>
            </a:srgbClr>
          </a:solidFill>
          <a:ln w="12700">
            <a:solidFill>
              <a:srgbClr val="9C27B0">
                <a:alpha val="2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18688" y="877824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840480" y="877824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C27B0"/>
                </a:solidFill>
              </a:rPr>
              <a:t>Measurement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9C27B0"/>
                </a:solidFill>
              </a:rPr>
              <a:t>(Wavefunction Collapse)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328416" y="1719072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0A4AE"/>
                </a:solidFill>
              </a:rPr>
              <a:t>Quantum Physics: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28416" y="1975104"/>
            <a:ext cx="2596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Observation forces the system to 'choose' one definite state randomly.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18688" y="2816352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C27B0"/>
                </a:solidFill>
              </a:rPr>
              <a:t>↓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328416" y="316382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C27B0"/>
                </a:solidFill>
              </a:rPr>
              <a:t>In-Game: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28416" y="3419856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Measure (M key)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28416" y="3712464"/>
            <a:ext cx="25968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</a:rPr>
              <a:t>One random ghost is selected as the real position; all others vanish — the wavefunction collapses.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63056" y="841248"/>
            <a:ext cx="2816352" cy="4297680"/>
          </a:xfrm>
          <a:prstGeom prst="rect">
            <a:avLst/>
          </a:prstGeom>
          <a:solidFill>
            <a:srgbClr val="0F1F40"/>
          </a:solidFill>
          <a:ln w="7620">
            <a:solidFill>
              <a:srgbClr val="00E5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33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63056" y="841248"/>
            <a:ext cx="2816352" cy="777240"/>
          </a:xfrm>
          <a:prstGeom prst="rect">
            <a:avLst/>
          </a:prstGeom>
          <a:solidFill>
            <a:srgbClr val="FF4FA3">
              <a:alpha val="25000"/>
            </a:srgbClr>
          </a:solidFill>
          <a:ln w="12700">
            <a:solidFill>
              <a:srgbClr val="FF4FA3">
                <a:alpha val="2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63056" y="877824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784848" y="877824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4FA3"/>
                </a:solidFill>
              </a:rPr>
              <a:t>Entanglement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272784" y="1719072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0A4AE"/>
                </a:solidFill>
              </a:rPr>
              <a:t>Quantum Physics: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72784" y="1975104"/>
            <a:ext cx="2596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Two particles are linked — acting on one instantly affects the other regardless of distance.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63056" y="2816352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4FA3"/>
                </a:solidFill>
              </a:rPr>
              <a:t>↓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272784" y="316382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4FA3"/>
                </a:solidFill>
              </a:rPr>
              <a:t>In-Game: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72784" y="3419856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Portals (α↔β tiles)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72784" y="3712464"/>
            <a:ext cx="25968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</a:rPr>
              <a:t>Paired portal tiles are entangled: stepping on one teleports the player to its partner instantly.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20117"/>
          </a:xfrm>
          <a:prstGeom prst="rect">
            <a:avLst/>
          </a:prstGeom>
          <a:solidFill>
            <a:srgbClr val="00E5FF">
              <a:alpha val="4500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59536"/>
            <a:ext cx="4114800" cy="4251960"/>
          </a:xfrm>
          <a:prstGeom prst="rect">
            <a:avLst/>
          </a:prstGeom>
          <a:solidFill>
            <a:srgbClr val="0F1F40"/>
          </a:solidFill>
          <a:ln w="7620">
            <a:solidFill>
              <a:srgbClr val="00E5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33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326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</a:rPr>
              <a:t>Technology Choices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2064" y="1426464"/>
            <a:ext cx="109728" cy="10972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HTML5 + CSS Grid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4944" y="164592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A4AE"/>
                </a:solidFill>
              </a:rPr>
              <a:t>Maze rendered as a CSS grid — no Canvas, no WebGL. Each cell is a &lt;div&gt; with data-type attribute. Walls are pure CSS.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12064" y="2295144"/>
            <a:ext cx="109728" cy="10972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2240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Vanilla JavaScript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4944" y="251460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A4AE"/>
                </a:solidFill>
              </a:rPr>
              <a:t>Zero frameworks. All game state lives in a plain JS object. DOM updated imperatively each turn.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12064" y="3163824"/>
            <a:ext cx="109728" cy="10972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Web Audio API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4944" y="338328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A4AE"/>
                </a:solidFill>
              </a:rPr>
              <a:t>Oscillator-based SFX and procedurally generated background music synthesised at runtime — no audio files.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12064" y="4032504"/>
            <a:ext cx="109728" cy="10972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localStorage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4944" y="425196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A4AE"/>
                </a:solidFill>
              </a:rPr>
              <a:t>Level completion and high scores persisted across sessions. Serialised as JSON with versioned keys.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859536"/>
            <a:ext cx="4160520" cy="1965960"/>
          </a:xfrm>
          <a:prstGeom prst="rect">
            <a:avLst/>
          </a:prstGeom>
          <a:solidFill>
            <a:srgbClr val="0F1F40"/>
          </a:solidFill>
          <a:ln w="7620">
            <a:solidFill>
              <a:srgbClr val="00E5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33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00600" y="9326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</a:rPr>
              <a:t>File Structure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0600" y="128016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12801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</a:rPr>
              <a:t>Full HTML skeleton: title screen, game screen, overlays, modals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00600" y="166420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style.css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166420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</a:rPr>
              <a:t>Dark theme, CSS variables, grid, glow animations, keyframes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00600" y="204825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script.js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204825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</a:rPr>
              <a:t>All game logic (~3 000 lines), 8 required functions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00600" y="2432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9360" y="243230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</a:rPr>
              <a:t>Setup and rules documentation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2944368"/>
            <a:ext cx="4160520" cy="2167128"/>
          </a:xfrm>
          <a:prstGeom prst="rect">
            <a:avLst/>
          </a:prstGeom>
          <a:solidFill>
            <a:srgbClr val="0F1F40"/>
          </a:solidFill>
          <a:ln w="7620">
            <a:solidFill>
              <a:srgbClr val="00E5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33">
                <a:alpha val="4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00600" y="30175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FA3"/>
                </a:solidFill>
              </a:rPr>
              <a:t>Why No Canvas?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73168" y="3429000"/>
            <a:ext cx="109728" cy="109728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4015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CSS Grid semantics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937760" y="366674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</a:rPr>
              <a:t>Each cell carries class names — walls, floors, portals — making DOM queries trivial.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73168" y="3977640"/>
            <a:ext cx="109728" cy="109728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39502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Accessibility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937760" y="421538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</a:rPr>
              <a:t>Screen readers and keyboard navigation work naturally with &lt;div&gt; elements.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73168" y="4526280"/>
            <a:ext cx="109728" cy="109728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44988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Hot updates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937760" y="476402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</a:rPr>
              <a:t>Toggling a cell type is a classList swap — no redraw loop needed.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 Core Functions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20117"/>
          </a:xfrm>
          <a:prstGeom prst="rect">
            <a:avLst/>
          </a:prstGeom>
          <a:solidFill>
            <a:srgbClr val="00E5FF">
              <a:alpha val="4500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59536"/>
            <a:ext cx="4315968" cy="987552"/>
          </a:xfrm>
          <a:prstGeom prst="rect">
            <a:avLst/>
          </a:prstGeom>
          <a:solidFill>
            <a:srgbClr val="0F1F40"/>
          </a:solidFill>
          <a:ln w="7620">
            <a:solidFill>
              <a:srgbClr val="00E5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33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32688"/>
            <a:ext cx="914400" cy="256032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326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0B1A"/>
                </a:solidFill>
              </a:rPr>
              <a:t>Config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9768" y="1207008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getLevelDefinition(level, mode)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1463040"/>
            <a:ext cx="4096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</a:rPr>
              <a:t>Returns a configuration object: grid size, portal count, energy orb count, split/measure budgets. All difficulty scaling lives here.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911096"/>
            <a:ext cx="4315968" cy="987552"/>
          </a:xfrm>
          <a:prstGeom prst="rect">
            <a:avLst/>
          </a:prstGeom>
          <a:solidFill>
            <a:srgbClr val="0F1F40"/>
          </a:solidFill>
          <a:ln w="7620">
            <a:solidFill>
              <a:srgbClr val="00E5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33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984248"/>
            <a:ext cx="914400" cy="2560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9842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55060"/>
                </a:solidFill>
              </a:rPr>
              <a:t>Classical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9768" y="2258568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carveMaze(grid, start)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9768" y="2514600"/>
            <a:ext cx="4096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</a:rPr>
              <a:t>Recursive-backtracking DFS. Visits every cell exactly once, removing walls to guarantee a perfect maze with one solution path.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962656"/>
            <a:ext cx="4315968" cy="987552"/>
          </a:xfrm>
          <a:prstGeom prst="rect">
            <a:avLst/>
          </a:prstGeom>
          <a:solidFill>
            <a:srgbClr val="0F1F40"/>
          </a:solidFill>
          <a:ln w="7620">
            <a:solidFill>
              <a:srgbClr val="00E5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33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3035808"/>
            <a:ext cx="914400" cy="2560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55060"/>
                </a:solidFill>
              </a:rPr>
              <a:t>Render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29768" y="3310128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buildMazeDOM(def)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9768" y="3566160"/>
            <a:ext cx="4096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</a:rPr>
              <a:t>Translates the 2-D wall array into &lt;div&gt; elements, assigns CSS classes, and places exit, portals, and orbs into the grid.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4014216"/>
            <a:ext cx="4315968" cy="987552"/>
          </a:xfrm>
          <a:prstGeom prst="rect">
            <a:avLst/>
          </a:prstGeom>
          <a:solidFill>
            <a:srgbClr val="0F1F40"/>
          </a:solidFill>
          <a:ln w="7620">
            <a:solidFill>
              <a:srgbClr val="00E5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33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4087368"/>
            <a:ext cx="914400" cy="2560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0873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55060"/>
                </a:solidFill>
              </a:rPr>
              <a:t>Classical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29768" y="4361688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moveDir(dx, dy)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9768" y="4617720"/>
            <a:ext cx="4096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</a:rPr>
              <a:t>Checks wall collision, moves all active positions (player + any ghosts), calls collectOrb(), then calls resolveTurn().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82312" y="859536"/>
            <a:ext cx="4315968" cy="987552"/>
          </a:xfrm>
          <a:prstGeom prst="rect">
            <a:avLst/>
          </a:prstGeom>
          <a:solidFill>
            <a:srgbClr val="0F1F40"/>
          </a:solidFill>
          <a:ln w="7620">
            <a:solidFill>
              <a:srgbClr val="00E5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33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73752" y="932688"/>
            <a:ext cx="914400" cy="2560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9326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0B1A"/>
                </a:solidFill>
              </a:rPr>
              <a:t>⚛ Quantum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92040" y="1207008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createSuperposition()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1463040"/>
            <a:ext cx="4096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</a:rPr>
              <a:t>Deducts one split charge, finds 2–3 open adjacent cells, and spawns semi-transparent ghost tokens — entering superposition state.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82312" y="1911096"/>
            <a:ext cx="4315968" cy="987552"/>
          </a:xfrm>
          <a:prstGeom prst="rect">
            <a:avLst/>
          </a:prstGeom>
          <a:solidFill>
            <a:srgbClr val="0F1F40"/>
          </a:solidFill>
          <a:ln w="7620">
            <a:solidFill>
              <a:srgbClr val="00E5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33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73752" y="1984248"/>
            <a:ext cx="914400" cy="256032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73752" y="19842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0B1A"/>
                </a:solidFill>
              </a:rPr>
              <a:t>⚛ Quantum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92040" y="2258568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collapseMeasurement()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92040" y="2514600"/>
            <a:ext cx="4096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</a:rPr>
              <a:t>Deducts one measure charge, uses Math.random() to select one ghost as canonical position; removes all others. State returns to classical.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82312" y="2962656"/>
            <a:ext cx="4315968" cy="987552"/>
          </a:xfrm>
          <a:prstGeom prst="rect">
            <a:avLst/>
          </a:prstGeom>
          <a:solidFill>
            <a:srgbClr val="0F1F40"/>
          </a:solidFill>
          <a:ln w="7620">
            <a:solidFill>
              <a:srgbClr val="00E5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33">
                <a:alpha val="4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73752" y="3035808"/>
            <a:ext cx="914400" cy="256032"/>
          </a:xfrm>
          <a:prstGeom prst="rect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73752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0B1A"/>
                </a:solidFill>
              </a:rPr>
              <a:t>⚛ Quantum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92040" y="3310128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applyPortals(positions)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92040" y="3566160"/>
            <a:ext cx="4096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</a:rPr>
              <a:t>Iterates all active positions; for any landing on a portal tile, teleports to the paired portal using the Greek-symbol map.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82312" y="4014216"/>
            <a:ext cx="4315968" cy="987552"/>
          </a:xfrm>
          <a:prstGeom prst="rect">
            <a:avLst/>
          </a:prstGeom>
          <a:solidFill>
            <a:srgbClr val="0F1F40"/>
          </a:solidFill>
          <a:ln w="7620">
            <a:solidFill>
              <a:srgbClr val="00E5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33">
                <a:alpha val="4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73752" y="4087368"/>
            <a:ext cx="914400" cy="256032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73752" y="40873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0B1A"/>
                </a:solidFill>
              </a:rPr>
              <a:t>Pipeline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892040" y="4361688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resolveTurn()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92040" y="4617720"/>
            <a:ext cx="4096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</a:rPr>
              <a:t>End-of-turn orchestrator: calls applyPortals() → checks win condition → updates score/moves → syncs DOM state → triggers audio cues.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Generation Pipeline &amp; Difficulty Scaling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20117"/>
          </a:xfrm>
          <a:prstGeom prst="rect">
            <a:avLst/>
          </a:prstGeom>
          <a:solidFill>
            <a:srgbClr val="00E5FF">
              <a:alpha val="4500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859536"/>
            <a:ext cx="1353312" cy="1737360"/>
          </a:xfrm>
          <a:prstGeom prst="rect">
            <a:avLst/>
          </a:prstGeom>
          <a:solidFill>
            <a:srgbClr val="0F1F40"/>
          </a:solidFill>
          <a:ln w="7620">
            <a:solidFill>
              <a:srgbClr val="00E5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33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914400"/>
            <a:ext cx="438912" cy="438912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914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0B1A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02336" y="1408176"/>
            <a:ext cx="1243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600"/>
                </a:solidFill>
              </a:rPr>
              <a:t>getLevelDefinition()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02336" y="1737360"/>
            <a:ext cx="12435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4AE"/>
                </a:solidFill>
              </a:rPr>
              <a:t>Grid size, portal/orb count,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0A4AE"/>
                </a:solidFill>
              </a:rPr>
              <a:t>budgets from mode &amp; level#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700784" y="969264"/>
            <a:ext cx="137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0A4AE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792224" y="859536"/>
            <a:ext cx="1353312" cy="1737360"/>
          </a:xfrm>
          <a:prstGeom prst="rect">
            <a:avLst/>
          </a:prstGeom>
          <a:solidFill>
            <a:srgbClr val="0F1F40"/>
          </a:solidFill>
          <a:ln w="7620">
            <a:solidFill>
              <a:srgbClr val="00E5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33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49424" y="914400"/>
            <a:ext cx="438912" cy="438912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49424" y="914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0B1A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47088" y="1408176"/>
            <a:ext cx="1243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FF"/>
                </a:solidFill>
              </a:rPr>
              <a:t>carveMaze()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847088" y="1737360"/>
            <a:ext cx="12435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4AE"/>
                </a:solidFill>
              </a:rPr>
              <a:t>DFS backtracking — perfect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0A4AE"/>
                </a:solidFill>
              </a:rPr>
              <a:t>maze, one solution path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145536" y="969264"/>
            <a:ext cx="137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0A4AE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236976" y="859536"/>
            <a:ext cx="1353312" cy="1737360"/>
          </a:xfrm>
          <a:prstGeom prst="rect">
            <a:avLst/>
          </a:prstGeom>
          <a:solidFill>
            <a:srgbClr val="0F1F40"/>
          </a:solidFill>
          <a:ln w="7620">
            <a:solidFill>
              <a:srgbClr val="00E5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33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94176" y="914400"/>
            <a:ext cx="438912" cy="438912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94176" y="914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0B1A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91840" y="1408176"/>
            <a:ext cx="1243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676"/>
                </a:solidFill>
              </a:rPr>
              <a:t>Place Exit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91840" y="1737360"/>
            <a:ext cx="12435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4AE"/>
                </a:solidFill>
              </a:rPr>
              <a:t>Bottom-right cell forced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0A4AE"/>
                </a:solidFill>
              </a:rPr>
              <a:t>open, marked as exit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90288" y="969264"/>
            <a:ext cx="137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0A4AE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681728" y="859536"/>
            <a:ext cx="1353312" cy="1737360"/>
          </a:xfrm>
          <a:prstGeom prst="rect">
            <a:avLst/>
          </a:prstGeom>
          <a:solidFill>
            <a:srgbClr val="0F1F40"/>
          </a:solidFill>
          <a:ln w="7620">
            <a:solidFill>
              <a:srgbClr val="00E5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33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138928" y="914400"/>
            <a:ext cx="438912" cy="438912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38928" y="914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0B1A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736592" y="1408176"/>
            <a:ext cx="1243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4FA3"/>
                </a:solidFill>
              </a:rPr>
              <a:t>Scatter Portals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36592" y="1737360"/>
            <a:ext cx="12435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4AE"/>
                </a:solidFill>
              </a:rPr>
              <a:t>N portal pairs placed 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0A4AE"/>
                </a:solidFill>
              </a:rPr>
              <a:t>random open floor cells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035040" y="969264"/>
            <a:ext cx="137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0A4AE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126480" y="859536"/>
            <a:ext cx="1353312" cy="1737360"/>
          </a:xfrm>
          <a:prstGeom prst="rect">
            <a:avLst/>
          </a:prstGeom>
          <a:solidFill>
            <a:srgbClr val="0F1F40"/>
          </a:solidFill>
          <a:ln w="7620">
            <a:solidFill>
              <a:srgbClr val="00E5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33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83680" y="914400"/>
            <a:ext cx="438912" cy="438912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914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0B1A"/>
                </a:solidFill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181344" y="1408176"/>
            <a:ext cx="1243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600"/>
                </a:solidFill>
              </a:rPr>
              <a:t>Place Energy Orbs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81344" y="1737360"/>
            <a:ext cx="12435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4AE"/>
                </a:solidFill>
              </a:rPr>
              <a:t>Bonus-score orbs on random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0A4AE"/>
                </a:solidFill>
              </a:rPr>
              <a:t>non-exit, non-portal cells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479792" y="969264"/>
            <a:ext cx="137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0A4AE"/>
                </a:solidFill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7571232" y="859536"/>
            <a:ext cx="1353312" cy="1737360"/>
          </a:xfrm>
          <a:prstGeom prst="rect">
            <a:avLst/>
          </a:prstGeom>
          <a:solidFill>
            <a:srgbClr val="0F1F40"/>
          </a:solidFill>
          <a:ln w="7620">
            <a:solidFill>
              <a:srgbClr val="00E5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33">
                <a:alpha val="4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028432" y="914400"/>
            <a:ext cx="438912" cy="438912"/>
          </a:xfrm>
          <a:prstGeom prst="ellipse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28432" y="914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0B1A"/>
                </a:solidFill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626096" y="1408176"/>
            <a:ext cx="1243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C27B0"/>
                </a:solidFill>
              </a:rPr>
              <a:t>buildMazeDOM()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626096" y="1737360"/>
            <a:ext cx="12435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4AE"/>
                </a:solidFill>
              </a:rPr>
              <a:t>Wall array → &lt;div&gt; grid,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0A4AE"/>
                </a:solidFill>
              </a:rPr>
              <a:t>CSS classes assigned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47472" y="2779776"/>
            <a:ext cx="8449056" cy="2377440"/>
          </a:xfrm>
          <a:prstGeom prst="rect">
            <a:avLst/>
          </a:prstGeom>
          <a:solidFill>
            <a:srgbClr val="0F1F40"/>
          </a:solidFill>
          <a:ln w="7620">
            <a:solidFill>
              <a:srgbClr val="00E5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33">
                <a:alpha val="4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02920" y="285292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</a:rPr>
              <a:t>Difficulty Scaling — getLevelDefinition() output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11480" y="3218688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E5FF"/>
                </a:solidFill>
              </a:rPr>
              <a:t>Mode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673352" y="3218688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E5FF"/>
                </a:solidFill>
              </a:rPr>
              <a:t>Grid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2660904" y="32186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E5FF"/>
                </a:solidFill>
              </a:rPr>
              <a:t>Walls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575304" y="32186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E5FF"/>
                </a:solidFill>
              </a:rPr>
              <a:t>Splits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489704" y="3218688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E5FF"/>
                </a:solidFill>
              </a:rPr>
              <a:t>Measures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513832" y="3218688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E5FF"/>
                </a:solidFill>
              </a:rPr>
              <a:t>Portals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537960" y="3218688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E5FF"/>
                </a:solidFill>
              </a:rPr>
              <a:t>Orbs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562088" y="3218688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E5FF"/>
                </a:solidFill>
              </a:rPr>
              <a:t>Level Cap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11480" y="3547872"/>
            <a:ext cx="1261872" cy="26517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1480" y="3547872"/>
            <a:ext cx="1261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676"/>
                </a:solidFill>
              </a:rPr>
              <a:t>Easy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1673352" y="3547872"/>
            <a:ext cx="987552" cy="26517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673352" y="3547872"/>
            <a:ext cx="9875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9×9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660904" y="3547872"/>
            <a:ext cx="914400" cy="26517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660904" y="3547872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Dense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575304" y="3547872"/>
            <a:ext cx="914400" cy="26517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575304" y="3547872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8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489704" y="3547872"/>
            <a:ext cx="1024128" cy="26517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489704" y="3547872"/>
            <a:ext cx="10241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9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5513832" y="3547872"/>
            <a:ext cx="1024128" cy="26517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513832" y="3547872"/>
            <a:ext cx="10241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2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537960" y="3547872"/>
            <a:ext cx="1024128" cy="26517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537960" y="3547872"/>
            <a:ext cx="10241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3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7562088" y="3547872"/>
            <a:ext cx="1024128" cy="26517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562088" y="3547872"/>
            <a:ext cx="10241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20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411480" y="3822192"/>
            <a:ext cx="1261872" cy="265176"/>
          </a:xfrm>
          <a:prstGeom prst="rect">
            <a:avLst/>
          </a:prstGeom>
          <a:solidFill>
            <a:srgbClr val="0A1630"/>
          </a:solidFill>
          <a:ln w="12700">
            <a:solidFill>
              <a:srgbClr val="0A163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11480" y="3822192"/>
            <a:ext cx="1261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5FF"/>
                </a:solidFill>
              </a:rPr>
              <a:t>Normal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1673352" y="3822192"/>
            <a:ext cx="987552" cy="265176"/>
          </a:xfrm>
          <a:prstGeom prst="rect">
            <a:avLst/>
          </a:prstGeom>
          <a:solidFill>
            <a:srgbClr val="0A1630"/>
          </a:solidFill>
          <a:ln w="12700">
            <a:solidFill>
              <a:srgbClr val="0A163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673352" y="3822192"/>
            <a:ext cx="9875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11×11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2660904" y="3822192"/>
            <a:ext cx="914400" cy="265176"/>
          </a:xfrm>
          <a:prstGeom prst="rect">
            <a:avLst/>
          </a:prstGeom>
          <a:solidFill>
            <a:srgbClr val="0A1630"/>
          </a:solidFill>
          <a:ln w="12700">
            <a:solidFill>
              <a:srgbClr val="0A163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660904" y="3822192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Dense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3575304" y="3822192"/>
            <a:ext cx="914400" cy="265176"/>
          </a:xfrm>
          <a:prstGeom prst="rect">
            <a:avLst/>
          </a:prstGeom>
          <a:solidFill>
            <a:srgbClr val="0A1630"/>
          </a:solidFill>
          <a:ln w="12700">
            <a:solidFill>
              <a:srgbClr val="0A163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575304" y="3822192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6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4489704" y="3822192"/>
            <a:ext cx="1024128" cy="265176"/>
          </a:xfrm>
          <a:prstGeom prst="rect">
            <a:avLst/>
          </a:prstGeom>
          <a:solidFill>
            <a:srgbClr val="0A1630"/>
          </a:solidFill>
          <a:ln w="12700">
            <a:solidFill>
              <a:srgbClr val="0A163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489704" y="3822192"/>
            <a:ext cx="10241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7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5513832" y="3822192"/>
            <a:ext cx="1024128" cy="265176"/>
          </a:xfrm>
          <a:prstGeom prst="rect">
            <a:avLst/>
          </a:prstGeom>
          <a:solidFill>
            <a:srgbClr val="0A1630"/>
          </a:solidFill>
          <a:ln w="12700">
            <a:solidFill>
              <a:srgbClr val="0A163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513832" y="3822192"/>
            <a:ext cx="10241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3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6537960" y="3822192"/>
            <a:ext cx="1024128" cy="265176"/>
          </a:xfrm>
          <a:prstGeom prst="rect">
            <a:avLst/>
          </a:prstGeom>
          <a:solidFill>
            <a:srgbClr val="0A1630"/>
          </a:solidFill>
          <a:ln w="12700">
            <a:solidFill>
              <a:srgbClr val="0A163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537960" y="3822192"/>
            <a:ext cx="10241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4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7562088" y="3822192"/>
            <a:ext cx="1024128" cy="265176"/>
          </a:xfrm>
          <a:prstGeom prst="rect">
            <a:avLst/>
          </a:prstGeom>
          <a:solidFill>
            <a:srgbClr val="0A1630"/>
          </a:solidFill>
          <a:ln w="12700">
            <a:solidFill>
              <a:srgbClr val="0A163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562088" y="3822192"/>
            <a:ext cx="10241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40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411480" y="4096512"/>
            <a:ext cx="1261872" cy="26517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11480" y="4096512"/>
            <a:ext cx="1261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600"/>
                </a:solidFill>
              </a:rPr>
              <a:t>Hard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1673352" y="4096512"/>
            <a:ext cx="987552" cy="26517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673352" y="4096512"/>
            <a:ext cx="9875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13×13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2660904" y="4096512"/>
            <a:ext cx="914400" cy="26517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660904" y="4096512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Medium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3575304" y="4096512"/>
            <a:ext cx="914400" cy="26517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575304" y="4096512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5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4489704" y="4096512"/>
            <a:ext cx="1024128" cy="26517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489704" y="4096512"/>
            <a:ext cx="10241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6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5513832" y="4096512"/>
            <a:ext cx="1024128" cy="26517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513832" y="4096512"/>
            <a:ext cx="10241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4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6537960" y="4096512"/>
            <a:ext cx="1024128" cy="26517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537960" y="4096512"/>
            <a:ext cx="10241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5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7562088" y="4096512"/>
            <a:ext cx="1024128" cy="26517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562088" y="4096512"/>
            <a:ext cx="10241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60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411480" y="4370832"/>
            <a:ext cx="1261872" cy="265176"/>
          </a:xfrm>
          <a:prstGeom prst="rect">
            <a:avLst/>
          </a:prstGeom>
          <a:solidFill>
            <a:srgbClr val="0A1630"/>
          </a:solidFill>
          <a:ln w="12700">
            <a:solidFill>
              <a:srgbClr val="0A163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11480" y="4370832"/>
            <a:ext cx="1261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4FA3"/>
                </a:solidFill>
              </a:rPr>
              <a:t>Expert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1673352" y="4370832"/>
            <a:ext cx="987552" cy="265176"/>
          </a:xfrm>
          <a:prstGeom prst="rect">
            <a:avLst/>
          </a:prstGeom>
          <a:solidFill>
            <a:srgbClr val="0A1630"/>
          </a:solidFill>
          <a:ln w="12700">
            <a:solidFill>
              <a:srgbClr val="0A163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673352" y="4370832"/>
            <a:ext cx="9875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15×15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2660904" y="4370832"/>
            <a:ext cx="914400" cy="265176"/>
          </a:xfrm>
          <a:prstGeom prst="rect">
            <a:avLst/>
          </a:prstGeom>
          <a:solidFill>
            <a:srgbClr val="0A1630"/>
          </a:solidFill>
          <a:ln w="12700">
            <a:solidFill>
              <a:srgbClr val="0A163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2660904" y="4370832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Medium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3575304" y="4370832"/>
            <a:ext cx="914400" cy="265176"/>
          </a:xfrm>
          <a:prstGeom prst="rect">
            <a:avLst/>
          </a:prstGeom>
          <a:solidFill>
            <a:srgbClr val="0A1630"/>
          </a:solidFill>
          <a:ln w="12700">
            <a:solidFill>
              <a:srgbClr val="0A163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575304" y="4370832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4</a:t>
            </a:r>
            <a:endParaRPr 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4489704" y="4370832"/>
            <a:ext cx="1024128" cy="265176"/>
          </a:xfrm>
          <a:prstGeom prst="rect">
            <a:avLst/>
          </a:prstGeom>
          <a:solidFill>
            <a:srgbClr val="0A1630"/>
          </a:solidFill>
          <a:ln w="12700">
            <a:solidFill>
              <a:srgbClr val="0A163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489704" y="4370832"/>
            <a:ext cx="10241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5</a:t>
            </a:r>
            <a:endParaRPr lang="en-US" sz="1100" dirty="0"/>
          </a:p>
        </p:txBody>
      </p:sp>
      <p:sp>
        <p:nvSpPr>
          <p:cNvPr id="107" name="Shape 105"/>
          <p:cNvSpPr/>
          <p:nvPr/>
        </p:nvSpPr>
        <p:spPr>
          <a:xfrm>
            <a:off x="5513832" y="4370832"/>
            <a:ext cx="1024128" cy="265176"/>
          </a:xfrm>
          <a:prstGeom prst="rect">
            <a:avLst/>
          </a:prstGeom>
          <a:solidFill>
            <a:srgbClr val="0A1630"/>
          </a:solidFill>
          <a:ln w="12700">
            <a:solidFill>
              <a:srgbClr val="0A163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5513832" y="4370832"/>
            <a:ext cx="10241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5</a:t>
            </a:r>
            <a:endParaRPr lang="en-US" sz="1100" dirty="0"/>
          </a:p>
        </p:txBody>
      </p:sp>
      <p:sp>
        <p:nvSpPr>
          <p:cNvPr id="109" name="Shape 107"/>
          <p:cNvSpPr/>
          <p:nvPr/>
        </p:nvSpPr>
        <p:spPr>
          <a:xfrm>
            <a:off x="6537960" y="4370832"/>
            <a:ext cx="1024128" cy="265176"/>
          </a:xfrm>
          <a:prstGeom prst="rect">
            <a:avLst/>
          </a:prstGeom>
          <a:solidFill>
            <a:srgbClr val="0A1630"/>
          </a:solidFill>
          <a:ln w="12700">
            <a:solidFill>
              <a:srgbClr val="0A163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537960" y="4370832"/>
            <a:ext cx="10241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6</a:t>
            </a:r>
            <a:endParaRPr lang="en-US" sz="1100" dirty="0"/>
          </a:p>
        </p:txBody>
      </p:sp>
      <p:sp>
        <p:nvSpPr>
          <p:cNvPr id="111" name="Shape 109"/>
          <p:cNvSpPr/>
          <p:nvPr/>
        </p:nvSpPr>
        <p:spPr>
          <a:xfrm>
            <a:off x="7562088" y="4370832"/>
            <a:ext cx="1024128" cy="265176"/>
          </a:xfrm>
          <a:prstGeom prst="rect">
            <a:avLst/>
          </a:prstGeom>
          <a:solidFill>
            <a:srgbClr val="0A1630"/>
          </a:solidFill>
          <a:ln w="12700">
            <a:solidFill>
              <a:srgbClr val="0A163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7562088" y="4370832"/>
            <a:ext cx="10241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80</a:t>
            </a:r>
            <a:endParaRPr lang="en-US" sz="1100" dirty="0"/>
          </a:p>
        </p:txBody>
      </p:sp>
      <p:sp>
        <p:nvSpPr>
          <p:cNvPr id="113" name="Shape 111"/>
          <p:cNvSpPr/>
          <p:nvPr/>
        </p:nvSpPr>
        <p:spPr>
          <a:xfrm>
            <a:off x="411480" y="4645152"/>
            <a:ext cx="1261872" cy="26517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411480" y="4645152"/>
            <a:ext cx="1261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4FA3"/>
                </a:solidFill>
              </a:rPr>
              <a:t>Master</a:t>
            </a:r>
            <a:endParaRPr lang="en-US" sz="1100" dirty="0"/>
          </a:p>
        </p:txBody>
      </p:sp>
      <p:sp>
        <p:nvSpPr>
          <p:cNvPr id="115" name="Shape 113"/>
          <p:cNvSpPr/>
          <p:nvPr/>
        </p:nvSpPr>
        <p:spPr>
          <a:xfrm>
            <a:off x="1673352" y="4645152"/>
            <a:ext cx="987552" cy="26517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1673352" y="4645152"/>
            <a:ext cx="9875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17×17</a:t>
            </a:r>
            <a:endParaRPr lang="en-US" sz="1100" dirty="0"/>
          </a:p>
        </p:txBody>
      </p:sp>
      <p:sp>
        <p:nvSpPr>
          <p:cNvPr id="117" name="Shape 115"/>
          <p:cNvSpPr/>
          <p:nvPr/>
        </p:nvSpPr>
        <p:spPr>
          <a:xfrm>
            <a:off x="2660904" y="4645152"/>
            <a:ext cx="914400" cy="26517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2660904" y="4645152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Sparse</a:t>
            </a:r>
            <a:endParaRPr lang="en-US" sz="1100" dirty="0"/>
          </a:p>
        </p:txBody>
      </p:sp>
      <p:sp>
        <p:nvSpPr>
          <p:cNvPr id="119" name="Shape 117"/>
          <p:cNvSpPr/>
          <p:nvPr/>
        </p:nvSpPr>
        <p:spPr>
          <a:xfrm>
            <a:off x="3575304" y="4645152"/>
            <a:ext cx="914400" cy="26517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3575304" y="4645152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3</a:t>
            </a:r>
            <a:endParaRPr lang="en-US" sz="1100" dirty="0"/>
          </a:p>
        </p:txBody>
      </p:sp>
      <p:sp>
        <p:nvSpPr>
          <p:cNvPr id="121" name="Shape 119"/>
          <p:cNvSpPr/>
          <p:nvPr/>
        </p:nvSpPr>
        <p:spPr>
          <a:xfrm>
            <a:off x="4489704" y="4645152"/>
            <a:ext cx="1024128" cy="26517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4489704" y="4645152"/>
            <a:ext cx="10241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4</a:t>
            </a:r>
            <a:endParaRPr lang="en-US" sz="1100" dirty="0"/>
          </a:p>
        </p:txBody>
      </p:sp>
      <p:sp>
        <p:nvSpPr>
          <p:cNvPr id="123" name="Shape 121"/>
          <p:cNvSpPr/>
          <p:nvPr/>
        </p:nvSpPr>
        <p:spPr>
          <a:xfrm>
            <a:off x="5513832" y="4645152"/>
            <a:ext cx="1024128" cy="26517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5513832" y="4645152"/>
            <a:ext cx="10241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6</a:t>
            </a:r>
            <a:endParaRPr lang="en-US" sz="1100" dirty="0"/>
          </a:p>
        </p:txBody>
      </p:sp>
      <p:sp>
        <p:nvSpPr>
          <p:cNvPr id="125" name="Shape 123"/>
          <p:cNvSpPr/>
          <p:nvPr/>
        </p:nvSpPr>
        <p:spPr>
          <a:xfrm>
            <a:off x="6537960" y="4645152"/>
            <a:ext cx="1024128" cy="26517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6537960" y="4645152"/>
            <a:ext cx="10241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8</a:t>
            </a:r>
            <a:endParaRPr lang="en-US" sz="1100" dirty="0"/>
          </a:p>
        </p:txBody>
      </p:sp>
      <p:sp>
        <p:nvSpPr>
          <p:cNvPr id="127" name="Shape 125"/>
          <p:cNvSpPr/>
          <p:nvPr/>
        </p:nvSpPr>
        <p:spPr>
          <a:xfrm>
            <a:off x="7562088" y="4645152"/>
            <a:ext cx="1024128" cy="26517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7562088" y="4645152"/>
            <a:ext cx="10241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90</a:t>
            </a:r>
            <a:endParaRPr lang="en-US" sz="1100" dirty="0"/>
          </a:p>
        </p:txBody>
      </p:sp>
      <p:sp>
        <p:nvSpPr>
          <p:cNvPr id="129" name="Shape 127"/>
          <p:cNvSpPr/>
          <p:nvPr/>
        </p:nvSpPr>
        <p:spPr>
          <a:xfrm>
            <a:off x="411480" y="4919472"/>
            <a:ext cx="1261872" cy="265176"/>
          </a:xfrm>
          <a:prstGeom prst="rect">
            <a:avLst/>
          </a:prstGeom>
          <a:solidFill>
            <a:srgbClr val="0A1630"/>
          </a:solidFill>
          <a:ln w="12700">
            <a:solidFill>
              <a:srgbClr val="0A163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411480" y="4919472"/>
            <a:ext cx="1261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1744"/>
                </a:solidFill>
              </a:rPr>
              <a:t>Extreme</a:t>
            </a:r>
            <a:endParaRPr lang="en-US" sz="1100" dirty="0"/>
          </a:p>
        </p:txBody>
      </p:sp>
      <p:sp>
        <p:nvSpPr>
          <p:cNvPr id="131" name="Shape 129"/>
          <p:cNvSpPr/>
          <p:nvPr/>
        </p:nvSpPr>
        <p:spPr>
          <a:xfrm>
            <a:off x="1673352" y="4919472"/>
            <a:ext cx="987552" cy="265176"/>
          </a:xfrm>
          <a:prstGeom prst="rect">
            <a:avLst/>
          </a:prstGeom>
          <a:solidFill>
            <a:srgbClr val="0A1630"/>
          </a:solidFill>
          <a:ln w="12700">
            <a:solidFill>
              <a:srgbClr val="0A1630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1673352" y="4919472"/>
            <a:ext cx="9875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21×21</a:t>
            </a:r>
            <a:endParaRPr lang="en-US" sz="1100" dirty="0"/>
          </a:p>
        </p:txBody>
      </p:sp>
      <p:sp>
        <p:nvSpPr>
          <p:cNvPr id="133" name="Shape 131"/>
          <p:cNvSpPr/>
          <p:nvPr/>
        </p:nvSpPr>
        <p:spPr>
          <a:xfrm>
            <a:off x="2660904" y="4919472"/>
            <a:ext cx="914400" cy="265176"/>
          </a:xfrm>
          <a:prstGeom prst="rect">
            <a:avLst/>
          </a:prstGeom>
          <a:solidFill>
            <a:srgbClr val="0A1630"/>
          </a:solidFill>
          <a:ln w="12700">
            <a:solidFill>
              <a:srgbClr val="0A163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2660904" y="4919472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Sparse</a:t>
            </a:r>
            <a:endParaRPr lang="en-US" sz="1100" dirty="0"/>
          </a:p>
        </p:txBody>
      </p:sp>
      <p:sp>
        <p:nvSpPr>
          <p:cNvPr id="135" name="Shape 133"/>
          <p:cNvSpPr/>
          <p:nvPr/>
        </p:nvSpPr>
        <p:spPr>
          <a:xfrm>
            <a:off x="3575304" y="4919472"/>
            <a:ext cx="914400" cy="265176"/>
          </a:xfrm>
          <a:prstGeom prst="rect">
            <a:avLst/>
          </a:prstGeom>
          <a:solidFill>
            <a:srgbClr val="0A1630"/>
          </a:solidFill>
          <a:ln w="12700">
            <a:solidFill>
              <a:srgbClr val="0A1630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3575304" y="4919472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2</a:t>
            </a:r>
            <a:endParaRPr lang="en-US" sz="1100" dirty="0"/>
          </a:p>
        </p:txBody>
      </p:sp>
      <p:sp>
        <p:nvSpPr>
          <p:cNvPr id="137" name="Shape 135"/>
          <p:cNvSpPr/>
          <p:nvPr/>
        </p:nvSpPr>
        <p:spPr>
          <a:xfrm>
            <a:off x="4489704" y="4919472"/>
            <a:ext cx="1024128" cy="265176"/>
          </a:xfrm>
          <a:prstGeom prst="rect">
            <a:avLst/>
          </a:prstGeom>
          <a:solidFill>
            <a:srgbClr val="0A1630"/>
          </a:solidFill>
          <a:ln w="12700">
            <a:solidFill>
              <a:srgbClr val="0A1630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4489704" y="4919472"/>
            <a:ext cx="10241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3</a:t>
            </a:r>
            <a:endParaRPr lang="en-US" sz="1100" dirty="0"/>
          </a:p>
        </p:txBody>
      </p:sp>
      <p:sp>
        <p:nvSpPr>
          <p:cNvPr id="139" name="Shape 137"/>
          <p:cNvSpPr/>
          <p:nvPr/>
        </p:nvSpPr>
        <p:spPr>
          <a:xfrm>
            <a:off x="5513832" y="4919472"/>
            <a:ext cx="1024128" cy="265176"/>
          </a:xfrm>
          <a:prstGeom prst="rect">
            <a:avLst/>
          </a:prstGeom>
          <a:solidFill>
            <a:srgbClr val="0A1630"/>
          </a:solidFill>
          <a:ln w="12700">
            <a:solidFill>
              <a:srgbClr val="0A1630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5513832" y="4919472"/>
            <a:ext cx="10241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8</a:t>
            </a:r>
            <a:endParaRPr lang="en-US" sz="1100" dirty="0"/>
          </a:p>
        </p:txBody>
      </p:sp>
      <p:sp>
        <p:nvSpPr>
          <p:cNvPr id="141" name="Shape 139"/>
          <p:cNvSpPr/>
          <p:nvPr/>
        </p:nvSpPr>
        <p:spPr>
          <a:xfrm>
            <a:off x="6537960" y="4919472"/>
            <a:ext cx="1024128" cy="265176"/>
          </a:xfrm>
          <a:prstGeom prst="rect">
            <a:avLst/>
          </a:prstGeom>
          <a:solidFill>
            <a:srgbClr val="0A1630"/>
          </a:solidFill>
          <a:ln w="12700">
            <a:solidFill>
              <a:srgbClr val="0A1630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6537960" y="4919472"/>
            <a:ext cx="10241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10</a:t>
            </a:r>
            <a:endParaRPr lang="en-US" sz="1100" dirty="0"/>
          </a:p>
        </p:txBody>
      </p:sp>
      <p:sp>
        <p:nvSpPr>
          <p:cNvPr id="143" name="Shape 141"/>
          <p:cNvSpPr/>
          <p:nvPr/>
        </p:nvSpPr>
        <p:spPr>
          <a:xfrm>
            <a:off x="7562088" y="4919472"/>
            <a:ext cx="1024128" cy="265176"/>
          </a:xfrm>
          <a:prstGeom prst="rect">
            <a:avLst/>
          </a:prstGeom>
          <a:solidFill>
            <a:srgbClr val="0A1630"/>
          </a:solidFill>
          <a:ln w="12700">
            <a:solidFill>
              <a:srgbClr val="0A1630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7562088" y="4919472"/>
            <a:ext cx="10241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100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Walkthrough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20117"/>
          </a:xfrm>
          <a:prstGeom prst="rect">
            <a:avLst/>
          </a:prstGeom>
          <a:solidFill>
            <a:srgbClr val="00E5FF">
              <a:alpha val="4500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905256"/>
            <a:ext cx="384048" cy="38404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05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0B1A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8778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E5FF"/>
                </a:solidFill>
              </a:rPr>
              <a:t>Title Screen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816352" y="896112"/>
            <a:ext cx="6053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Enter your name, pick Easy mode. Notice the 100-level progress grid at the bottom — all grey to start.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7472" y="1389888"/>
            <a:ext cx="8449056" cy="10973"/>
          </a:xfrm>
          <a:prstGeom prst="rect">
            <a:avLst/>
          </a:prstGeom>
          <a:solidFill>
            <a:srgbClr val="90A4AE">
              <a:alpha val="25000"/>
            </a:srgbClr>
          </a:solidFill>
          <a:ln w="12700">
            <a:solidFill>
              <a:srgbClr val="90A4AE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508760"/>
            <a:ext cx="384048" cy="384048"/>
          </a:xfrm>
          <a:prstGeom prst="ellipse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0B1A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14813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0A4AE"/>
                </a:solidFill>
              </a:rPr>
              <a:t>Basic Movement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816352" y="1499616"/>
            <a:ext cx="6053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Use Arrow keys / WASD to navigate. Move counter increments each step. Visited cells get a faint outline. Walls are impassable.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47472" y="1993392"/>
            <a:ext cx="8449056" cy="10973"/>
          </a:xfrm>
          <a:prstGeom prst="rect">
            <a:avLst/>
          </a:prstGeom>
          <a:solidFill>
            <a:srgbClr val="90A4AE">
              <a:alpha val="25000"/>
            </a:srgbClr>
          </a:solidFill>
          <a:ln w="12700">
            <a:solidFill>
              <a:srgbClr val="90A4AE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" y="2112264"/>
            <a:ext cx="384048" cy="38404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0B1A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20848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E5FF"/>
                </a:solidFill>
              </a:rPr>
              <a:t>Split (S key)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816352" y="2103120"/>
            <a:ext cx="6053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Press S — Splits budget drops from 8 to 7. Two ghost tokens appear. Status bar reads 'Superposition: 2 states'. All ghosts move together.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47472" y="2596896"/>
            <a:ext cx="8449056" cy="10973"/>
          </a:xfrm>
          <a:prstGeom prst="rect">
            <a:avLst/>
          </a:prstGeom>
          <a:solidFill>
            <a:srgbClr val="90A4AE">
              <a:alpha val="25000"/>
            </a:srgbClr>
          </a:solidFill>
          <a:ln w="12700">
            <a:solidFill>
              <a:srgbClr val="90A4AE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2715768"/>
            <a:ext cx="384048" cy="384048"/>
          </a:xfrm>
          <a:prstGeom prst="ellipse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2715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0B1A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26883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C27B0"/>
                </a:solidFill>
              </a:rPr>
              <a:t>Measure (M key)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816352" y="2706624"/>
            <a:ext cx="6053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Press M — one ghost is chosen by Math.random(). Others disappear. 'Wavefunction collapsed — one reality.' Measures budget drops by 1.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47472" y="3200400"/>
            <a:ext cx="8449056" cy="10973"/>
          </a:xfrm>
          <a:prstGeom prst="rect">
            <a:avLst/>
          </a:prstGeom>
          <a:solidFill>
            <a:srgbClr val="90A4AE">
              <a:alpha val="25000"/>
            </a:srgbClr>
          </a:solidFill>
          <a:ln w="12700">
            <a:solidFill>
              <a:srgbClr val="90A4AE">
                <a:alpha val="2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" y="3319272"/>
            <a:ext cx="384048" cy="384048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3319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0B1A"/>
                </a:solidFill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32918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4FA3"/>
                </a:solidFill>
              </a:rPr>
              <a:t>Portal Demo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816352" y="3310128"/>
            <a:ext cx="6053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Walk onto an α portal — player teleports to the β portal instantly. Try splitting before stepping on a portal; all ghosts teleport.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47472" y="3803904"/>
            <a:ext cx="8449056" cy="10973"/>
          </a:xfrm>
          <a:prstGeom prst="rect">
            <a:avLst/>
          </a:prstGeom>
          <a:solidFill>
            <a:srgbClr val="90A4AE">
              <a:alpha val="25000"/>
            </a:srgbClr>
          </a:solidFill>
          <a:ln w="12700">
            <a:solidFill>
              <a:srgbClr val="90A4AE">
                <a:alpha val="2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" y="3922776"/>
            <a:ext cx="384048" cy="384048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3922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0B1A"/>
                </a:solidFill>
              </a:rPr>
              <a:t>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2960" y="38953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D600"/>
                </a:solidFill>
              </a:rPr>
              <a:t>Energy Orb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2816352" y="3913632"/>
            <a:ext cx="6053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Step onto a pink orb — it's collected, +50 score, the cell clears. Collecting all orbs before exiting is the score-maximiser strategy.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47472" y="4407408"/>
            <a:ext cx="8449056" cy="10973"/>
          </a:xfrm>
          <a:prstGeom prst="rect">
            <a:avLst/>
          </a:prstGeom>
          <a:solidFill>
            <a:srgbClr val="90A4AE">
              <a:alpha val="25000"/>
            </a:srgbClr>
          </a:solidFill>
          <a:ln w="12700">
            <a:solidFill>
              <a:srgbClr val="90A4AE">
                <a:alpha val="2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7472" y="4526280"/>
            <a:ext cx="384048" cy="384048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0B1A"/>
                </a:solidFill>
              </a:rPr>
              <a:t>7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22960" y="44988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E676"/>
                </a:solidFill>
              </a:rPr>
              <a:t>Win → Next Level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2816352" y="4517136"/>
            <a:ext cx="6053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Reach the ★ exit. Win overlay shows score + moves. Progress grid fills in. Hit Next Level — maze grows, budgets shrink on Expert+.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347472" y="5120640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4FA3"/>
                </a:solidFill>
              </a:rPr>
              <a:t>⏱  10-minute presentation = ~90 sec per step. Keep browser open in Easy mode, Level 1.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Feature Checklist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20117"/>
          </a:xfrm>
          <a:prstGeom prst="rect">
            <a:avLst/>
          </a:prstGeom>
          <a:solidFill>
            <a:srgbClr val="00E5FF">
              <a:alpha val="4500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59536"/>
            <a:ext cx="2121408" cy="4297680"/>
          </a:xfrm>
          <a:prstGeom prst="rect">
            <a:avLst/>
          </a:prstGeom>
          <a:solidFill>
            <a:srgbClr val="0F1F40"/>
          </a:solidFill>
          <a:ln w="7620">
            <a:solidFill>
              <a:srgbClr val="00E5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33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14400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</a:rPr>
              <a:t>Controls &amp; Input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9768" y="1325880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</a:rPr>
              <a:t>✔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04088" y="1325880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Arrow keys + WASD movement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29768" y="1847088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</a:rPr>
              <a:t>✔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04088" y="1847088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S = Split (superposition)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9768" y="2368296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</a:rPr>
              <a:t>✔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4088" y="2368296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M = Measure (collapse)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9768" y="2889504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</a:rPr>
              <a:t>✔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4088" y="2889504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P = Pause / resume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29768" y="3410712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</a:rPr>
              <a:t>✔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04088" y="3410712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Mobile touch swipe (30 px threshold)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9768" y="3931920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</a:rPr>
              <a:t>✔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04088" y="3931920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Keyboard shortcut tooltips on hover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532888" y="859536"/>
            <a:ext cx="2121408" cy="4297680"/>
          </a:xfrm>
          <a:prstGeom prst="rect">
            <a:avLst/>
          </a:prstGeom>
          <a:solidFill>
            <a:srgbClr val="0F1F40"/>
          </a:solidFill>
          <a:ln w="7620">
            <a:solidFill>
              <a:srgbClr val="00E5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33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624328" y="914400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</a:rPr>
              <a:t>UI &amp; Overlays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42616" y="1325880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</a:rPr>
              <a:t>✔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916936" y="1325880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Title screen — name + difficulty picker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642616" y="1847088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</a:rPr>
              <a:t>✔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916936" y="1847088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In-game HUD: moves, score, level, state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642616" y="2368296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</a:rPr>
              <a:t>✔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916936" y="2368296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100-cell progress grid tracker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642616" y="2889504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</a:rPr>
              <a:t>✔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916936" y="2889504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Win overlay — score + Next/Restart/Title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642616" y="3410712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</a:rPr>
              <a:t>✔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916936" y="3410712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Rules modal with all mechanics explained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642616" y="3931920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</a:rPr>
              <a:t>✔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916936" y="3931920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Pause overlay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45736" y="859536"/>
            <a:ext cx="2121408" cy="4297680"/>
          </a:xfrm>
          <a:prstGeom prst="rect">
            <a:avLst/>
          </a:prstGeom>
          <a:solidFill>
            <a:srgbClr val="0F1F40"/>
          </a:solidFill>
          <a:ln w="7620">
            <a:solidFill>
              <a:srgbClr val="00E5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33">
                <a:alpha val="4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37176" y="914400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</a:rPr>
              <a:t>Effects &amp; Polish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55464" y="1325880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</a:rPr>
              <a:t>✔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129784" y="1325880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CSS glow on player, portals, exit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55464" y="1847088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</a:rPr>
              <a:t>✔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129784" y="1847088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Ghost tokens semi-transparent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855464" y="2368296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</a:rPr>
              <a:t>✔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129784" y="2368296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Orb collection particle flash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855464" y="2889504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</a:rPr>
              <a:t>✔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129784" y="2889504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Portal teleport flash animation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855464" y="3410712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</a:rPr>
              <a:t>✔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129784" y="3410712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Difficulty-colour progress cells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855464" y="3931920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</a:rPr>
              <a:t>✔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129784" y="3931920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Responsive to window resize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958584" y="859536"/>
            <a:ext cx="2121408" cy="4297680"/>
          </a:xfrm>
          <a:prstGeom prst="rect">
            <a:avLst/>
          </a:prstGeom>
          <a:solidFill>
            <a:srgbClr val="0F1F40"/>
          </a:solidFill>
          <a:ln w="7620">
            <a:solidFill>
              <a:srgbClr val="00E5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33">
                <a:alpha val="4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7050024" y="914400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</a:rPr>
              <a:t>Audio &amp; Persistence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068312" y="1325880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</a:rPr>
              <a:t>✔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7342632" y="1325880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Web Audio move SFX (oscillator)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7068312" y="1847088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</a:rPr>
              <a:t>✔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7342632" y="1847088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Portal teleport SFX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7068312" y="2368296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</a:rPr>
              <a:t>✔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7342632" y="2368296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Orb collect SFX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7068312" y="2889504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</a:rPr>
              <a:t>✔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7342632" y="2889504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Win / game-over music sting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7068312" y="3410712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</a:rPr>
              <a:t>✔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7342632" y="3410712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Procedural background music loop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7068312" y="3931920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</a:rPr>
              <a:t>✔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7342632" y="3931920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localStorage: level progress + scores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Maze Generation — Recursive Backtracking DFS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20117"/>
          </a:xfrm>
          <a:prstGeom prst="rect">
            <a:avLst/>
          </a:prstGeom>
          <a:solidFill>
            <a:srgbClr val="00E5FF">
              <a:alpha val="4500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859536"/>
            <a:ext cx="4206240" cy="4251960"/>
          </a:xfrm>
          <a:prstGeom prst="rect">
            <a:avLst/>
          </a:prstGeom>
          <a:solidFill>
            <a:srgbClr val="0F1F40"/>
          </a:solidFill>
          <a:ln w="7620">
            <a:solidFill>
              <a:srgbClr val="00E5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33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3268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</a:rPr>
              <a:t>carveMaze() Algorithm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" y="1353312"/>
            <a:ext cx="310896" cy="310896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353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0B1A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7824" y="135331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Initialise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77824" y="1591056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</a:rPr>
              <a:t>Create N×N grid, all walls up. Mark all cells unvisited.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" y="1975104"/>
            <a:ext cx="310896" cy="310896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975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0B1A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77824" y="1975104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Start at (0,0)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77824" y="221284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</a:rPr>
              <a:t>Push starting cell onto the stack. Mark visited.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" y="2596896"/>
            <a:ext cx="310896" cy="310896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596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0B1A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77824" y="2596896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Peek stack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77824" y="283464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</a:rPr>
              <a:t>Look at the top cell. Find all unvisited neighbours (N/S/E/W).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" y="3218688"/>
            <a:ext cx="310896" cy="310896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218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0B1A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77824" y="321868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Unvisited found?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77824" y="345643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</a:rPr>
              <a:t>Yes → pick one at random, remove the shared wall, push neighbour, mark visited. No → pop the stack (backtrack).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" y="3840480"/>
            <a:ext cx="310896" cy="310896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3840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0B1A"/>
                </a:solidFill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77824" y="384048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Repeat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77824" y="4078224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</a:rPr>
              <a:t>Until the stack is empty — every cell has been visited exactly once.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" y="4462272"/>
            <a:ext cx="310896" cy="310896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4462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0B1A"/>
                </a:solidFill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77824" y="446227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Guarantee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77824" y="4700016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</a:rPr>
              <a:t>Every cell reachable from every other cell → perfect maze, exactly one solution path.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859536"/>
            <a:ext cx="4041648" cy="4251960"/>
          </a:xfrm>
          <a:prstGeom prst="rect">
            <a:avLst/>
          </a:prstGeom>
          <a:solidFill>
            <a:srgbClr val="0F1F40"/>
          </a:solidFill>
          <a:ln w="7620">
            <a:solidFill>
              <a:srgbClr val="00E5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33">
                <a:alpha val="4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92040" y="93268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</a:rPr>
              <a:t>Example 6×6 Carved Maze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029200" y="137160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03520" y="137160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577840" y="137160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852160" y="137160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26480" y="137160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0" y="137160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75120" y="137160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49440" y="137160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223760" y="137160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98080" y="137160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72400" y="137160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46720" y="137160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321040" y="137160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029200" y="164592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303520" y="1645920"/>
            <a:ext cx="265176" cy="265176"/>
          </a:xfrm>
          <a:prstGeom prst="rect">
            <a:avLst/>
          </a:prstGeom>
          <a:solidFill>
            <a:srgbClr val="1A3A6A"/>
          </a:solidFill>
          <a:ln w="381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577840" y="1645920"/>
            <a:ext cx="265176" cy="265176"/>
          </a:xfrm>
          <a:prstGeom prst="rect">
            <a:avLst/>
          </a:prstGeom>
          <a:solidFill>
            <a:srgbClr val="1A3A6A"/>
          </a:solidFill>
          <a:ln w="381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852160" y="1645920"/>
            <a:ext cx="265176" cy="265176"/>
          </a:xfrm>
          <a:prstGeom prst="rect">
            <a:avLst/>
          </a:prstGeom>
          <a:solidFill>
            <a:srgbClr val="1A3A6A"/>
          </a:solidFill>
          <a:ln w="381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126480" y="164592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00800" y="1645920"/>
            <a:ext cx="265176" cy="265176"/>
          </a:xfrm>
          <a:prstGeom prst="rect">
            <a:avLst/>
          </a:prstGeom>
          <a:solidFill>
            <a:srgbClr val="1A3A6A"/>
          </a:solidFill>
          <a:ln w="381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675120" y="1645920"/>
            <a:ext cx="265176" cy="265176"/>
          </a:xfrm>
          <a:prstGeom prst="rect">
            <a:avLst/>
          </a:prstGeom>
          <a:solidFill>
            <a:srgbClr val="1A3A6A"/>
          </a:solidFill>
          <a:ln w="381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949440" y="1645920"/>
            <a:ext cx="265176" cy="265176"/>
          </a:xfrm>
          <a:prstGeom prst="rect">
            <a:avLst/>
          </a:prstGeom>
          <a:solidFill>
            <a:srgbClr val="1A3A6A"/>
          </a:solidFill>
          <a:ln w="381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223760" y="1645920"/>
            <a:ext cx="265176" cy="265176"/>
          </a:xfrm>
          <a:prstGeom prst="rect">
            <a:avLst/>
          </a:prstGeom>
          <a:solidFill>
            <a:srgbClr val="1A3A6A"/>
          </a:solidFill>
          <a:ln w="381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498080" y="1645920"/>
            <a:ext cx="265176" cy="265176"/>
          </a:xfrm>
          <a:prstGeom prst="rect">
            <a:avLst/>
          </a:prstGeom>
          <a:solidFill>
            <a:srgbClr val="1A3A6A"/>
          </a:solidFill>
          <a:ln w="381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772400" y="164592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046720" y="1645920"/>
            <a:ext cx="265176" cy="265176"/>
          </a:xfrm>
          <a:prstGeom prst="rect">
            <a:avLst/>
          </a:prstGeom>
          <a:solidFill>
            <a:srgbClr val="1A3A6A"/>
          </a:solidFill>
          <a:ln w="381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321040" y="164592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029200" y="192024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303520" y="1920240"/>
            <a:ext cx="265176" cy="265176"/>
          </a:xfrm>
          <a:prstGeom prst="rect">
            <a:avLst/>
          </a:prstGeom>
          <a:solidFill>
            <a:srgbClr val="1A3A6A"/>
          </a:solidFill>
          <a:ln w="381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577840" y="192024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852160" y="1920240"/>
            <a:ext cx="265176" cy="265176"/>
          </a:xfrm>
          <a:prstGeom prst="rect">
            <a:avLst/>
          </a:prstGeom>
          <a:solidFill>
            <a:srgbClr val="1A3A6A"/>
          </a:solidFill>
          <a:ln w="381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126480" y="192024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400800" y="1920240"/>
            <a:ext cx="265176" cy="265176"/>
          </a:xfrm>
          <a:prstGeom prst="rect">
            <a:avLst/>
          </a:prstGeom>
          <a:solidFill>
            <a:srgbClr val="1A3A6A"/>
          </a:solidFill>
          <a:ln w="381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675120" y="192024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949440" y="192024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223760" y="192024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498080" y="1920240"/>
            <a:ext cx="265176" cy="265176"/>
          </a:xfrm>
          <a:prstGeom prst="rect">
            <a:avLst/>
          </a:prstGeom>
          <a:solidFill>
            <a:srgbClr val="1A3A6A"/>
          </a:solidFill>
          <a:ln w="381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772400" y="192024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046720" y="1920240"/>
            <a:ext cx="265176" cy="265176"/>
          </a:xfrm>
          <a:prstGeom prst="rect">
            <a:avLst/>
          </a:prstGeom>
          <a:solidFill>
            <a:srgbClr val="1A3A6A"/>
          </a:solidFill>
          <a:ln w="381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321040" y="192024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029200" y="219456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303520" y="2194560"/>
            <a:ext cx="265176" cy="265176"/>
          </a:xfrm>
          <a:prstGeom prst="rect">
            <a:avLst/>
          </a:prstGeom>
          <a:solidFill>
            <a:srgbClr val="1A3A6A"/>
          </a:solidFill>
          <a:ln w="381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577840" y="219456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852160" y="2194560"/>
            <a:ext cx="265176" cy="265176"/>
          </a:xfrm>
          <a:prstGeom prst="rect">
            <a:avLst/>
          </a:prstGeom>
          <a:solidFill>
            <a:srgbClr val="1A3A6A"/>
          </a:solidFill>
          <a:ln w="381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126480" y="2194560"/>
            <a:ext cx="265176" cy="265176"/>
          </a:xfrm>
          <a:prstGeom prst="rect">
            <a:avLst/>
          </a:prstGeom>
          <a:solidFill>
            <a:srgbClr val="1A3A6A"/>
          </a:solidFill>
          <a:ln w="381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400800" y="2194560"/>
            <a:ext cx="265176" cy="265176"/>
          </a:xfrm>
          <a:prstGeom prst="rect">
            <a:avLst/>
          </a:prstGeom>
          <a:solidFill>
            <a:srgbClr val="1A3A6A"/>
          </a:solidFill>
          <a:ln w="381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675120" y="2194560"/>
            <a:ext cx="265176" cy="265176"/>
          </a:xfrm>
          <a:prstGeom prst="rect">
            <a:avLst/>
          </a:prstGeom>
          <a:solidFill>
            <a:srgbClr val="1A3A6A"/>
          </a:solidFill>
          <a:ln w="381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949440" y="2194560"/>
            <a:ext cx="265176" cy="265176"/>
          </a:xfrm>
          <a:prstGeom prst="rect">
            <a:avLst/>
          </a:prstGeom>
          <a:solidFill>
            <a:srgbClr val="1A3A6A"/>
          </a:solidFill>
          <a:ln w="381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223760" y="219456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498080" y="2194560"/>
            <a:ext cx="265176" cy="265176"/>
          </a:xfrm>
          <a:prstGeom prst="rect">
            <a:avLst/>
          </a:prstGeom>
          <a:solidFill>
            <a:srgbClr val="1A3A6A"/>
          </a:solidFill>
          <a:ln w="381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772400" y="2194560"/>
            <a:ext cx="265176" cy="265176"/>
          </a:xfrm>
          <a:prstGeom prst="rect">
            <a:avLst/>
          </a:prstGeom>
          <a:solidFill>
            <a:srgbClr val="1A3A6A"/>
          </a:solidFill>
          <a:ln w="381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046720" y="2194560"/>
            <a:ext cx="265176" cy="265176"/>
          </a:xfrm>
          <a:prstGeom prst="rect">
            <a:avLst/>
          </a:prstGeom>
          <a:solidFill>
            <a:srgbClr val="1A3A6A"/>
          </a:solidFill>
          <a:ln w="381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321040" y="219456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029200" y="246888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303520" y="2468880"/>
            <a:ext cx="265176" cy="265176"/>
          </a:xfrm>
          <a:prstGeom prst="rect">
            <a:avLst/>
          </a:prstGeom>
          <a:solidFill>
            <a:srgbClr val="1A3A6A"/>
          </a:solidFill>
          <a:ln w="381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577840" y="246888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852160" y="246888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126480" y="246888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400800" y="246888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675120" y="246888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949440" y="2468880"/>
            <a:ext cx="265176" cy="265176"/>
          </a:xfrm>
          <a:prstGeom prst="rect">
            <a:avLst/>
          </a:prstGeom>
          <a:solidFill>
            <a:srgbClr val="1A3A6A"/>
          </a:solidFill>
          <a:ln w="381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223760" y="246888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498080" y="246888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772400" y="246888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046720" y="2468880"/>
            <a:ext cx="265176" cy="265176"/>
          </a:xfrm>
          <a:prstGeom prst="rect">
            <a:avLst/>
          </a:prstGeom>
          <a:solidFill>
            <a:srgbClr val="1A3A6A"/>
          </a:solidFill>
          <a:ln w="381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321040" y="246888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029200" y="274320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303520" y="2743200"/>
            <a:ext cx="265176" cy="265176"/>
          </a:xfrm>
          <a:prstGeom prst="rect">
            <a:avLst/>
          </a:prstGeom>
          <a:solidFill>
            <a:srgbClr val="1A3A6A"/>
          </a:solidFill>
          <a:ln w="381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577840" y="2743200"/>
            <a:ext cx="265176" cy="265176"/>
          </a:xfrm>
          <a:prstGeom prst="rect">
            <a:avLst/>
          </a:prstGeom>
          <a:solidFill>
            <a:srgbClr val="1A3A6A"/>
          </a:solidFill>
          <a:ln w="381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5852160" y="2743200"/>
            <a:ext cx="265176" cy="265176"/>
          </a:xfrm>
          <a:prstGeom prst="rect">
            <a:avLst/>
          </a:prstGeom>
          <a:solidFill>
            <a:srgbClr val="1A3A6A"/>
          </a:solidFill>
          <a:ln w="381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126480" y="2743200"/>
            <a:ext cx="265176" cy="265176"/>
          </a:xfrm>
          <a:prstGeom prst="rect">
            <a:avLst/>
          </a:prstGeom>
          <a:solidFill>
            <a:srgbClr val="1A3A6A"/>
          </a:solidFill>
          <a:ln w="381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400800" y="2743200"/>
            <a:ext cx="265176" cy="265176"/>
          </a:xfrm>
          <a:prstGeom prst="rect">
            <a:avLst/>
          </a:prstGeom>
          <a:solidFill>
            <a:srgbClr val="1A3A6A"/>
          </a:solidFill>
          <a:ln w="381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675120" y="274320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949440" y="2743200"/>
            <a:ext cx="265176" cy="265176"/>
          </a:xfrm>
          <a:prstGeom prst="rect">
            <a:avLst/>
          </a:prstGeom>
          <a:solidFill>
            <a:srgbClr val="1A3A6A"/>
          </a:solidFill>
          <a:ln w="381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223760" y="2743200"/>
            <a:ext cx="265176" cy="265176"/>
          </a:xfrm>
          <a:prstGeom prst="rect">
            <a:avLst/>
          </a:prstGeom>
          <a:solidFill>
            <a:srgbClr val="1A3A6A"/>
          </a:solidFill>
          <a:ln w="381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498080" y="2743200"/>
            <a:ext cx="265176" cy="265176"/>
          </a:xfrm>
          <a:prstGeom prst="rect">
            <a:avLst/>
          </a:prstGeom>
          <a:solidFill>
            <a:srgbClr val="1A3A6A"/>
          </a:solidFill>
          <a:ln w="381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772400" y="274320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046720" y="2743200"/>
            <a:ext cx="265176" cy="265176"/>
          </a:xfrm>
          <a:prstGeom prst="rect">
            <a:avLst/>
          </a:prstGeom>
          <a:solidFill>
            <a:srgbClr val="1A3A6A"/>
          </a:solidFill>
          <a:ln w="381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321040" y="274320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5029200" y="301752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303520" y="301752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577840" y="301752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852160" y="3017520"/>
            <a:ext cx="265176" cy="265176"/>
          </a:xfrm>
          <a:prstGeom prst="rect">
            <a:avLst/>
          </a:prstGeom>
          <a:solidFill>
            <a:srgbClr val="1A3A6A"/>
          </a:solidFill>
          <a:ln w="381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6126480" y="301752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400800" y="3017520"/>
            <a:ext cx="265176" cy="265176"/>
          </a:xfrm>
          <a:prstGeom prst="rect">
            <a:avLst/>
          </a:prstGeom>
          <a:solidFill>
            <a:srgbClr val="1A3A6A"/>
          </a:solidFill>
          <a:ln w="381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6675120" y="301752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6949440" y="301752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223760" y="301752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498080" y="3017520"/>
            <a:ext cx="265176" cy="265176"/>
          </a:xfrm>
          <a:prstGeom prst="rect">
            <a:avLst/>
          </a:prstGeom>
          <a:solidFill>
            <a:srgbClr val="1A3A6A"/>
          </a:solidFill>
          <a:ln w="381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7772400" y="301752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8046720" y="3017520"/>
            <a:ext cx="265176" cy="265176"/>
          </a:xfrm>
          <a:prstGeom prst="rect">
            <a:avLst/>
          </a:prstGeom>
          <a:solidFill>
            <a:srgbClr val="1A3A6A"/>
          </a:solidFill>
          <a:ln w="381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8321040" y="301752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029200" y="329184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303520" y="3291840"/>
            <a:ext cx="265176" cy="265176"/>
          </a:xfrm>
          <a:prstGeom prst="rect">
            <a:avLst/>
          </a:prstGeom>
          <a:solidFill>
            <a:srgbClr val="1A3A6A"/>
          </a:solidFill>
          <a:ln w="381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577840" y="3291840"/>
            <a:ext cx="265176" cy="265176"/>
          </a:xfrm>
          <a:prstGeom prst="rect">
            <a:avLst/>
          </a:prstGeom>
          <a:solidFill>
            <a:srgbClr val="1A3A6A"/>
          </a:solidFill>
          <a:ln w="381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852160" y="3291840"/>
            <a:ext cx="265176" cy="265176"/>
          </a:xfrm>
          <a:prstGeom prst="rect">
            <a:avLst/>
          </a:prstGeom>
          <a:solidFill>
            <a:srgbClr val="1A3A6A"/>
          </a:solidFill>
          <a:ln w="381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126480" y="329184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400800" y="3291840"/>
            <a:ext cx="265176" cy="265176"/>
          </a:xfrm>
          <a:prstGeom prst="rect">
            <a:avLst/>
          </a:prstGeom>
          <a:solidFill>
            <a:srgbClr val="1A3A6A"/>
          </a:solidFill>
          <a:ln w="381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675120" y="3291840"/>
            <a:ext cx="265176" cy="265176"/>
          </a:xfrm>
          <a:prstGeom prst="rect">
            <a:avLst/>
          </a:prstGeom>
          <a:solidFill>
            <a:srgbClr val="1A3A6A"/>
          </a:solidFill>
          <a:ln w="381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949440" y="3291840"/>
            <a:ext cx="265176" cy="265176"/>
          </a:xfrm>
          <a:prstGeom prst="rect">
            <a:avLst/>
          </a:prstGeom>
          <a:solidFill>
            <a:srgbClr val="1A3A6A"/>
          </a:solidFill>
          <a:ln w="381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223760" y="329184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7498080" y="3291840"/>
            <a:ext cx="265176" cy="265176"/>
          </a:xfrm>
          <a:prstGeom prst="rect">
            <a:avLst/>
          </a:prstGeom>
          <a:solidFill>
            <a:srgbClr val="1A3A6A"/>
          </a:solidFill>
          <a:ln w="381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7772400" y="3291840"/>
            <a:ext cx="265176" cy="265176"/>
          </a:xfrm>
          <a:prstGeom prst="rect">
            <a:avLst/>
          </a:prstGeom>
          <a:solidFill>
            <a:srgbClr val="1A3A6A"/>
          </a:solidFill>
          <a:ln w="381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046720" y="3291840"/>
            <a:ext cx="265176" cy="265176"/>
          </a:xfrm>
          <a:prstGeom prst="rect">
            <a:avLst/>
          </a:prstGeom>
          <a:solidFill>
            <a:srgbClr val="1A3A6A"/>
          </a:solidFill>
          <a:ln w="381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8321040" y="329184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029200" y="356616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303520" y="3566160"/>
            <a:ext cx="265176" cy="265176"/>
          </a:xfrm>
          <a:prstGeom prst="rect">
            <a:avLst/>
          </a:prstGeom>
          <a:solidFill>
            <a:srgbClr val="1A3A6A"/>
          </a:solidFill>
          <a:ln w="381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577840" y="356616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852160" y="356616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6126480" y="356616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400800" y="356616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6675120" y="356616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6949440" y="3566160"/>
            <a:ext cx="265176" cy="265176"/>
          </a:xfrm>
          <a:prstGeom prst="rect">
            <a:avLst/>
          </a:prstGeom>
          <a:solidFill>
            <a:srgbClr val="1A3A6A"/>
          </a:solidFill>
          <a:ln w="381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7223760" y="356616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7498080" y="356616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7772400" y="356616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8046720" y="3566160"/>
            <a:ext cx="265176" cy="265176"/>
          </a:xfrm>
          <a:prstGeom prst="rect">
            <a:avLst/>
          </a:prstGeom>
          <a:solidFill>
            <a:srgbClr val="1A3A6A"/>
          </a:solidFill>
          <a:ln w="381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8321040" y="356616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029200" y="384048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303520" y="3840480"/>
            <a:ext cx="265176" cy="265176"/>
          </a:xfrm>
          <a:prstGeom prst="rect">
            <a:avLst/>
          </a:prstGeom>
          <a:solidFill>
            <a:srgbClr val="1A3A6A"/>
          </a:solidFill>
          <a:ln w="381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577840" y="3840480"/>
            <a:ext cx="265176" cy="265176"/>
          </a:xfrm>
          <a:prstGeom prst="rect">
            <a:avLst/>
          </a:prstGeom>
          <a:solidFill>
            <a:srgbClr val="1A3A6A"/>
          </a:solidFill>
          <a:ln w="381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852160" y="3840480"/>
            <a:ext cx="265176" cy="265176"/>
          </a:xfrm>
          <a:prstGeom prst="rect">
            <a:avLst/>
          </a:prstGeom>
          <a:solidFill>
            <a:srgbClr val="1A3A6A"/>
          </a:solidFill>
          <a:ln w="381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6126480" y="3840480"/>
            <a:ext cx="265176" cy="265176"/>
          </a:xfrm>
          <a:prstGeom prst="rect">
            <a:avLst/>
          </a:prstGeom>
          <a:solidFill>
            <a:srgbClr val="1A3A6A"/>
          </a:solidFill>
          <a:ln w="381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6400800" y="3840480"/>
            <a:ext cx="265176" cy="265176"/>
          </a:xfrm>
          <a:prstGeom prst="rect">
            <a:avLst/>
          </a:prstGeom>
          <a:solidFill>
            <a:srgbClr val="1A3A6A"/>
          </a:solidFill>
          <a:ln w="381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6675120" y="3840480"/>
            <a:ext cx="265176" cy="265176"/>
          </a:xfrm>
          <a:prstGeom prst="rect">
            <a:avLst/>
          </a:prstGeom>
          <a:solidFill>
            <a:srgbClr val="1A3A6A"/>
          </a:solidFill>
          <a:ln w="381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6949440" y="3840480"/>
            <a:ext cx="265176" cy="265176"/>
          </a:xfrm>
          <a:prstGeom prst="rect">
            <a:avLst/>
          </a:prstGeom>
          <a:solidFill>
            <a:srgbClr val="1A3A6A"/>
          </a:solidFill>
          <a:ln w="381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7223760" y="3840480"/>
            <a:ext cx="265176" cy="265176"/>
          </a:xfrm>
          <a:prstGeom prst="rect">
            <a:avLst/>
          </a:prstGeom>
          <a:solidFill>
            <a:srgbClr val="1A3A6A"/>
          </a:solidFill>
          <a:ln w="381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7498080" y="3840480"/>
            <a:ext cx="265176" cy="265176"/>
          </a:xfrm>
          <a:prstGeom prst="rect">
            <a:avLst/>
          </a:prstGeom>
          <a:solidFill>
            <a:srgbClr val="1A3A6A"/>
          </a:solidFill>
          <a:ln w="381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7772400" y="384048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8046720" y="3840480"/>
            <a:ext cx="265176" cy="265176"/>
          </a:xfrm>
          <a:prstGeom prst="rect">
            <a:avLst/>
          </a:prstGeom>
          <a:solidFill>
            <a:srgbClr val="1A3A6A"/>
          </a:solidFill>
          <a:ln w="381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8321040" y="384048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029200" y="411480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303520" y="411480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577840" y="411480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852160" y="411480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126480" y="411480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400800" y="411480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675120" y="411480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949440" y="411480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7223760" y="411480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7498080" y="411480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7772400" y="411480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8046720" y="411480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8321040" y="4114800"/>
            <a:ext cx="265176" cy="26517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5340096" y="1682496"/>
            <a:ext cx="201168" cy="20116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8046720" y="3840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4FA3"/>
                </a:solidFill>
              </a:rPr>
              <a:t>★</a:t>
            </a:r>
            <a:endParaRPr lang="en-US" sz="1100" dirty="0"/>
          </a:p>
        </p:txBody>
      </p:sp>
      <p:sp>
        <p:nvSpPr>
          <p:cNvPr id="177" name="Text 175"/>
          <p:cNvSpPr/>
          <p:nvPr/>
        </p:nvSpPr>
        <p:spPr>
          <a:xfrm>
            <a:off x="4892040" y="449884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E676"/>
                </a:solidFill>
              </a:rPr>
              <a:t>Properties: Solvable ✔   No loops ✔   No isolated cells ✔   Unique solution ✔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20117"/>
          </a:xfrm>
          <a:prstGeom prst="rect">
            <a:avLst/>
          </a:prstGeom>
          <a:solidFill>
            <a:srgbClr val="00E5FF">
              <a:alpha val="4500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59536"/>
            <a:ext cx="4297680" cy="2084832"/>
          </a:xfrm>
          <a:prstGeom prst="rect">
            <a:avLst/>
          </a:prstGeom>
          <a:solidFill>
            <a:srgbClr val="0F1F40"/>
          </a:solidFill>
          <a:ln w="7620">
            <a:solidFill>
              <a:srgbClr val="00E5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33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59536"/>
            <a:ext cx="4297680" cy="475488"/>
          </a:xfrm>
          <a:prstGeom prst="rect">
            <a:avLst/>
          </a:prstGeom>
          <a:solidFill>
            <a:srgbClr val="00E5FF">
              <a:alpha val="22000"/>
            </a:srgbClr>
          </a:solidFill>
          <a:ln w="12700">
            <a:solidFill>
              <a:srgbClr val="00E5FF">
                <a:alpha val="2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8056" y="93268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</a:rPr>
              <a:t>Algorithms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" y="1426464"/>
            <a:ext cx="91440" cy="9144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13898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Recursive DFS for maze generation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" y="1810512"/>
            <a:ext cx="91440" cy="9144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" y="177393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Graph traversal + backtracking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" y="2194560"/>
            <a:ext cx="91440" cy="9144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215798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Collision detection logic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" y="2578608"/>
            <a:ext cx="91440" cy="9144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" y="25420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Turn-resolution pipeline design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00600" y="859536"/>
            <a:ext cx="4297680" cy="2084832"/>
          </a:xfrm>
          <a:prstGeom prst="rect">
            <a:avLst/>
          </a:prstGeom>
          <a:solidFill>
            <a:srgbClr val="0F1F40"/>
          </a:solidFill>
          <a:ln w="7620">
            <a:solidFill>
              <a:srgbClr val="00E5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33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859536"/>
            <a:ext cx="4297680" cy="475488"/>
          </a:xfrm>
          <a:prstGeom prst="rect">
            <a:avLst/>
          </a:prstGeom>
          <a:solidFill>
            <a:srgbClr val="9C27B0">
              <a:alpha val="22000"/>
            </a:srgbClr>
          </a:solidFill>
          <a:ln w="12700">
            <a:solidFill>
              <a:srgbClr val="9C27B0">
                <a:alpha val="2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28616" y="93268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C27B0"/>
                </a:solidFill>
              </a:rPr>
              <a:t>Quantum Concepts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946904" y="1426464"/>
            <a:ext cx="91440" cy="91440"/>
          </a:xfrm>
          <a:prstGeom prst="ellipse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11496" y="13898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Superposition as multi-state existence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46904" y="1810512"/>
            <a:ext cx="91440" cy="91440"/>
          </a:xfrm>
          <a:prstGeom prst="ellipse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11496" y="177393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Probabilistic wavefunction collapse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46904" y="2194560"/>
            <a:ext cx="91440" cy="91440"/>
          </a:xfrm>
          <a:prstGeom prst="ellipse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11496" y="215798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Entanglement as correlated pairs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46904" y="2578608"/>
            <a:ext cx="91440" cy="91440"/>
          </a:xfrm>
          <a:prstGeom prst="ellipse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11496" y="25420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Observer effect in measurement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" y="3072384"/>
            <a:ext cx="4297680" cy="2084832"/>
          </a:xfrm>
          <a:prstGeom prst="rect">
            <a:avLst/>
          </a:prstGeom>
          <a:solidFill>
            <a:srgbClr val="0F1F40"/>
          </a:solidFill>
          <a:ln w="7620">
            <a:solidFill>
              <a:srgbClr val="00E5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33">
                <a:alpha val="4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072384"/>
            <a:ext cx="4297680" cy="475488"/>
          </a:xfrm>
          <a:prstGeom prst="rect">
            <a:avLst/>
          </a:prstGeom>
          <a:solidFill>
            <a:srgbClr val="FFD600">
              <a:alpha val="22000"/>
            </a:srgbClr>
          </a:solidFill>
          <a:ln w="12700">
            <a:solidFill>
              <a:srgbClr val="FFD600">
                <a:alpha val="22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" y="314553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600"/>
                </a:solidFill>
              </a:rPr>
              <a:t>Web APIs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66344" y="3639312"/>
            <a:ext cx="91440" cy="91440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" y="360273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Web Audio API — oscillators &amp; filters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66344" y="4023360"/>
            <a:ext cx="91440" cy="91440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" y="398678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CSS Grid — dynamic board rendering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6344" y="4407408"/>
            <a:ext cx="91440" cy="91440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" y="43708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localStorage — serialisation &amp; versioning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66344" y="4791456"/>
            <a:ext cx="91440" cy="91440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" y="47548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Pointer Events — cross-device input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00600" y="3072384"/>
            <a:ext cx="4297680" cy="2084832"/>
          </a:xfrm>
          <a:prstGeom prst="rect">
            <a:avLst/>
          </a:prstGeom>
          <a:solidFill>
            <a:srgbClr val="0F1F40"/>
          </a:solidFill>
          <a:ln w="7620">
            <a:solidFill>
              <a:srgbClr val="00E5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33">
                <a:alpha val="4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00600" y="3072384"/>
            <a:ext cx="4297680" cy="475488"/>
          </a:xfrm>
          <a:prstGeom prst="rect">
            <a:avLst/>
          </a:prstGeom>
          <a:solidFill>
            <a:srgbClr val="00E676">
              <a:alpha val="22000"/>
            </a:srgbClr>
          </a:solidFill>
          <a:ln w="12700">
            <a:solidFill>
              <a:srgbClr val="00E676">
                <a:alpha val="22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28616" y="314553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</a:rPr>
              <a:t>Software Design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946904" y="3639312"/>
            <a:ext cx="91440" cy="9144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11496" y="360273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Single-responsibility per function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946904" y="4023360"/>
            <a:ext cx="91440" cy="9144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11496" y="398678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State management without a framework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946904" y="4407408"/>
            <a:ext cx="91440" cy="9144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11496" y="43708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CSS variable theming at scale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946904" y="4791456"/>
            <a:ext cx="91440" cy="9144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11496" y="47548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Modular, documented architecture (JSDoc)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Highlights — Viva Deep Dive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20117"/>
          </a:xfrm>
          <a:prstGeom prst="rect">
            <a:avLst/>
          </a:prstGeom>
          <a:solidFill>
            <a:srgbClr val="00E5FF">
              <a:alpha val="4500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859536"/>
            <a:ext cx="8449056" cy="969264"/>
          </a:xfrm>
          <a:prstGeom prst="rect">
            <a:avLst/>
          </a:prstGeom>
          <a:solidFill>
            <a:srgbClr val="0F1F40"/>
          </a:solidFill>
          <a:ln w="7620">
            <a:solidFill>
              <a:srgbClr val="00E5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33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859536"/>
            <a:ext cx="73152" cy="9692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9326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E5FF"/>
                </a:solidFill>
              </a:rPr>
              <a:t>Seeded-RNG Portal Placement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30352" y="1261872"/>
            <a:ext cx="8156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applyPortals() uses a Fisher-Yates shuffle seeded by the level number to place portals deterministically — same seed always produces the same layout, making bugs reproducible.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7472" y="1901952"/>
            <a:ext cx="8449056" cy="969264"/>
          </a:xfrm>
          <a:prstGeom prst="rect">
            <a:avLst/>
          </a:prstGeom>
          <a:solidFill>
            <a:srgbClr val="0F1F40"/>
          </a:solidFill>
          <a:ln w="7620">
            <a:solidFill>
              <a:srgbClr val="00E5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33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1901952"/>
            <a:ext cx="73152" cy="969264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97510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C27B0"/>
                </a:solidFill>
              </a:rPr>
              <a:t>Single Resolution Point — resolveTurn()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30352" y="2304288"/>
            <a:ext cx="8156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Every game event funnels through resolveTurn() after movement. This prevents race conditions and makes the turn pipeline predictable: portals → win check → score → DOM sync → audio.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7472" y="2944368"/>
            <a:ext cx="8449056" cy="969264"/>
          </a:xfrm>
          <a:prstGeom prst="rect">
            <a:avLst/>
          </a:prstGeom>
          <a:solidFill>
            <a:srgbClr val="0F1F40"/>
          </a:solidFill>
          <a:ln w="7620">
            <a:solidFill>
              <a:srgbClr val="00E5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33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" y="2944368"/>
            <a:ext cx="73152" cy="969264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30175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D600"/>
                </a:solidFill>
              </a:rPr>
              <a:t>Web Audio Synthesis (No Audio Files)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30352" y="3346704"/>
            <a:ext cx="8156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Sounds are generated with OscillatorNode + GainNode chains. Move SFX = 220 Hz sine, portal = sweeping triangle 440→880 Hz, win = major chord arpeggiation. Zero network requests.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8449056" cy="969264"/>
          </a:xfrm>
          <a:prstGeom prst="rect">
            <a:avLst/>
          </a:prstGeom>
          <a:solidFill>
            <a:srgbClr val="0F1F40"/>
          </a:solidFill>
          <a:ln w="7620">
            <a:solidFill>
              <a:srgbClr val="00E5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33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7472" y="3986784"/>
            <a:ext cx="73152" cy="969264"/>
          </a:xfrm>
          <a:prstGeom prst="rect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405993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4FA3"/>
                </a:solidFill>
              </a:rPr>
              <a:t>Multi-Position Ghost Movement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30352" y="4389120"/>
            <a:ext cx="8156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In superposition, positions[] holds N coordinate pairs. moveDir() iterates all of them, applying the same Δx/Δy vector. applyPortals() then processes each position independently — each ghost can enter a different portal.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47472" y="5120640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4FA3"/>
                </a:solidFill>
              </a:rPr>
              <a:t>Tip for viva: be ready to trace any input event from keydown → moveDir() → resolveTurn() → DOM update.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to Capture for Your PPT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20117"/>
          </a:xfrm>
          <a:prstGeom prst="rect">
            <a:avLst/>
          </a:prstGeom>
          <a:solidFill>
            <a:srgbClr val="00E5FF">
              <a:alpha val="4500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59536"/>
            <a:ext cx="4297680" cy="1371600"/>
          </a:xfrm>
          <a:prstGeom prst="rect">
            <a:avLst/>
          </a:prstGeom>
          <a:solidFill>
            <a:srgbClr val="0F1F40"/>
          </a:solidFill>
          <a:ln w="7620">
            <a:solidFill>
              <a:srgbClr val="00E5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33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9768" y="969264"/>
            <a:ext cx="402336" cy="402336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969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0B1A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41832" y="987552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</a:rPr>
              <a:t>Title Screen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" y="1426464"/>
            <a:ext cx="73152" cy="73152"/>
          </a:xfrm>
          <a:prstGeom prst="ellipse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139903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</a:rPr>
              <a:t>Show name input field and 6 difficulty buttons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" y="1682496"/>
            <a:ext cx="73152" cy="73152"/>
          </a:xfrm>
          <a:prstGeom prst="ellipse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655064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</a:rPr>
              <a:t>Capture the progress grid (all grey)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" y="1938528"/>
            <a:ext cx="73152" cy="73152"/>
          </a:xfrm>
          <a:prstGeom prst="ellipse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191109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</a:rPr>
              <a:t>Window at 1280×800 min for clarity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00600" y="859536"/>
            <a:ext cx="4297680" cy="1371600"/>
          </a:xfrm>
          <a:prstGeom prst="rect">
            <a:avLst/>
          </a:prstGeom>
          <a:solidFill>
            <a:srgbClr val="0F1F40"/>
          </a:solidFill>
          <a:ln w="7620">
            <a:solidFill>
              <a:srgbClr val="00E5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33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10328" y="969264"/>
            <a:ext cx="402336" cy="402336"/>
          </a:xfrm>
          <a:prstGeom prst="ellipse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0328" y="969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0B1A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22392" y="987552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0A4AE"/>
                </a:solidFill>
              </a:rPr>
              <a:t>Level 1 – Game Board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65192" y="1426464"/>
            <a:ext cx="73152" cy="73152"/>
          </a:xfrm>
          <a:prstGeom prst="ellipse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93208" y="139903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</a:rPr>
              <a:t>Player at top-left, exit star at bottom-right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65192" y="1682496"/>
            <a:ext cx="73152" cy="73152"/>
          </a:xfrm>
          <a:prstGeom prst="ellipse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93208" y="1655064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</a:rPr>
              <a:t>Energy orb visible mid-maze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965192" y="1938528"/>
            <a:ext cx="73152" cy="73152"/>
          </a:xfrm>
          <a:prstGeom prst="ellipse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93208" y="191109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</a:rPr>
              <a:t>HUD showing Stage 1/100, Easy, 8 Splits, 9 Measures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2322576"/>
            <a:ext cx="4297680" cy="1371600"/>
          </a:xfrm>
          <a:prstGeom prst="rect">
            <a:avLst/>
          </a:prstGeom>
          <a:solidFill>
            <a:srgbClr val="0F1F40"/>
          </a:solidFill>
          <a:ln w="7620">
            <a:solidFill>
              <a:srgbClr val="00E5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33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9768" y="2432304"/>
            <a:ext cx="402336" cy="402336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" y="24323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0B1A"/>
                </a:solidFill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41832" y="2450592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</a:rPr>
              <a:t>Superposition State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4632" y="2889504"/>
            <a:ext cx="73152" cy="73152"/>
          </a:xfrm>
          <a:prstGeom prst="ellipse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" y="286207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</a:rPr>
              <a:t>Press S — capture 2 ghost tokens on board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4632" y="3145536"/>
            <a:ext cx="73152" cy="73152"/>
          </a:xfrm>
          <a:prstGeom prst="ellipse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" y="3118104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</a:rPr>
              <a:t>State badge reads 'Superposition: 2 states'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4632" y="3401568"/>
            <a:ext cx="73152" cy="73152"/>
          </a:xfrm>
          <a:prstGeom prst="ellipse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" y="337413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</a:rPr>
              <a:t>Splits counter reduced by 1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00600" y="2322576"/>
            <a:ext cx="4297680" cy="1371600"/>
          </a:xfrm>
          <a:prstGeom prst="rect">
            <a:avLst/>
          </a:prstGeom>
          <a:solidFill>
            <a:srgbClr val="0F1F40"/>
          </a:solidFill>
          <a:ln w="7620">
            <a:solidFill>
              <a:srgbClr val="00E5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33">
                <a:alpha val="4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910328" y="2432304"/>
            <a:ext cx="402336" cy="402336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0328" y="24323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0B1A"/>
                </a:solidFill>
              </a:rPr>
              <a:t>4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422392" y="2450592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FA3"/>
                </a:solidFill>
              </a:rPr>
              <a:t>Portal Teleport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965192" y="2889504"/>
            <a:ext cx="73152" cy="73152"/>
          </a:xfrm>
          <a:prstGeom prst="ellipse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93208" y="286207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</a:rPr>
              <a:t>Player standing on an α portal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965192" y="3145536"/>
            <a:ext cx="73152" cy="73152"/>
          </a:xfrm>
          <a:prstGeom prst="ellipse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93208" y="3118104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</a:rPr>
              <a:t>Take screenshot mid-flash if possible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965192" y="3401568"/>
            <a:ext cx="73152" cy="73152"/>
          </a:xfrm>
          <a:prstGeom prst="ellipse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93208" y="337413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</a:rPr>
              <a:t>Or show player at β portal immediately after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20040" y="3785616"/>
            <a:ext cx="4297680" cy="1371600"/>
          </a:xfrm>
          <a:prstGeom prst="rect">
            <a:avLst/>
          </a:prstGeom>
          <a:solidFill>
            <a:srgbClr val="0F1F40"/>
          </a:solidFill>
          <a:ln w="7620">
            <a:solidFill>
              <a:srgbClr val="00E5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33">
                <a:alpha val="4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29768" y="3895344"/>
            <a:ext cx="402336" cy="402336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9768" y="3895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0B1A"/>
                </a:solidFill>
              </a:rPr>
              <a:t>5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941832" y="3913632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</a:rPr>
              <a:t>Win Overlay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84632" y="4352544"/>
            <a:ext cx="73152" cy="73152"/>
          </a:xfrm>
          <a:prstGeom prst="ellipse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2648" y="432511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</a:rPr>
              <a:t>Final score + move count visible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84632" y="4608576"/>
            <a:ext cx="73152" cy="73152"/>
          </a:xfrm>
          <a:prstGeom prst="ellipse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2648" y="4581144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</a:rPr>
              <a:t>Next Level / Restart / Title buttons showing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84632" y="4864608"/>
            <a:ext cx="73152" cy="73152"/>
          </a:xfrm>
          <a:prstGeom prst="ellipse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2648" y="483717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</a:rPr>
              <a:t>Progress grid with level 1 filled in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800600" y="3785616"/>
            <a:ext cx="4297680" cy="1371600"/>
          </a:xfrm>
          <a:prstGeom prst="rect">
            <a:avLst/>
          </a:prstGeom>
          <a:solidFill>
            <a:srgbClr val="0F1F40"/>
          </a:solidFill>
          <a:ln w="7620">
            <a:solidFill>
              <a:srgbClr val="00E5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33">
                <a:alpha val="4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910328" y="3895344"/>
            <a:ext cx="402336" cy="402336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10328" y="3895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0B1A"/>
                </a:solidFill>
              </a:rPr>
              <a:t>6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5422392" y="3913632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600"/>
                </a:solidFill>
              </a:rPr>
              <a:t>Hard/Expert Mode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4965192" y="4352544"/>
            <a:ext cx="73152" cy="73152"/>
          </a:xfrm>
          <a:prstGeom prst="ellipse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93208" y="432511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</a:rPr>
              <a:t>Larger grid, more portals visible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4965192" y="4608576"/>
            <a:ext cx="73152" cy="73152"/>
          </a:xfrm>
          <a:prstGeom prst="ellipse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93208" y="4581144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</a:rPr>
              <a:t>Smaller split/measure budgets in HUD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4965192" y="4864608"/>
            <a:ext cx="73152" cy="73152"/>
          </a:xfrm>
          <a:prstGeom prst="ellipse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093208" y="483717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</a:rPr>
              <a:t>Optional: show extreme-mode 21×21 grid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20117"/>
          </a:xfrm>
          <a:prstGeom prst="rect">
            <a:avLst/>
          </a:prstGeom>
          <a:solidFill>
            <a:srgbClr val="00E5FF">
              <a:alpha val="4500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59536"/>
            <a:ext cx="1627632" cy="1463040"/>
          </a:xfrm>
          <a:prstGeom prst="rect">
            <a:avLst/>
          </a:prstGeom>
          <a:solidFill>
            <a:srgbClr val="0C1A3A"/>
          </a:solidFill>
          <a:ln w="7620">
            <a:solidFill>
              <a:srgbClr val="00E5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33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96112"/>
            <a:ext cx="16276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E5FF"/>
                </a:solidFill>
              </a:rPr>
              <a:t>100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20040" y="1755648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Levels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39112" y="859536"/>
            <a:ext cx="1627632" cy="1463040"/>
          </a:xfrm>
          <a:prstGeom prst="rect">
            <a:avLst/>
          </a:prstGeom>
          <a:solidFill>
            <a:srgbClr val="0C1A3A"/>
          </a:solidFill>
          <a:ln w="7620">
            <a:solidFill>
              <a:srgbClr val="00E5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33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39112" y="896112"/>
            <a:ext cx="16276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9C27B0"/>
                </a:solidFill>
              </a:rPr>
              <a:t>6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2039112" y="1755648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Difficulty Modes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58184" y="859536"/>
            <a:ext cx="1627632" cy="1463040"/>
          </a:xfrm>
          <a:prstGeom prst="rect">
            <a:avLst/>
          </a:prstGeom>
          <a:solidFill>
            <a:srgbClr val="0C1A3A"/>
          </a:solidFill>
          <a:ln w="7620">
            <a:solidFill>
              <a:srgbClr val="00E5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33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58184" y="896112"/>
            <a:ext cx="16276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D600"/>
                </a:solidFill>
              </a:rPr>
              <a:t>8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758184" y="1755648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Core Functions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77256" y="859536"/>
            <a:ext cx="1627632" cy="1463040"/>
          </a:xfrm>
          <a:prstGeom prst="rect">
            <a:avLst/>
          </a:prstGeom>
          <a:solidFill>
            <a:srgbClr val="0C1A3A"/>
          </a:solidFill>
          <a:ln w="7620">
            <a:solidFill>
              <a:srgbClr val="00E5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33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77256" y="896112"/>
            <a:ext cx="16276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4FA3"/>
                </a:solidFill>
              </a:rPr>
              <a:t>3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5477256" y="1755648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Quantum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Mechanics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96328" y="859536"/>
            <a:ext cx="1627632" cy="1463040"/>
          </a:xfrm>
          <a:prstGeom prst="rect">
            <a:avLst/>
          </a:prstGeom>
          <a:solidFill>
            <a:srgbClr val="0C1A3A"/>
          </a:solidFill>
          <a:ln w="7620">
            <a:solidFill>
              <a:srgbClr val="00E5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33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96328" y="896112"/>
            <a:ext cx="16276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E676"/>
                </a:solidFill>
              </a:rPr>
              <a:t>0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7196328" y="1755648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External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Libraries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432304"/>
            <a:ext cx="8476488" cy="1600200"/>
          </a:xfrm>
          <a:prstGeom prst="rect">
            <a:avLst/>
          </a:prstGeom>
          <a:solidFill>
            <a:srgbClr val="0F1F40"/>
          </a:solidFill>
          <a:ln w="7620">
            <a:solidFill>
              <a:srgbClr val="00E5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33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" y="252374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</a:rPr>
              <a:t>What We Built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" y="2871216"/>
            <a:ext cx="8229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Quantum Maze Escape is a complete, self-contained browser game built from scratch with zero dependencies. The player navigates procedurally generated mazes using three genuine quantum mechanics: superposition (split into ghost tokens), wavefunction collapse (randomly select one ghost), and entanglement (paired portal teleportation). All 8 required core functions are implemented, documented, and tested across all 6 difficulty modes on 100 levels. The project demonstrates both software engineering skills (modular architecture, DFS algorithm, Web Audio API) and communicates real quantum computing concepts in an accessible, engaging format.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4114800"/>
            <a:ext cx="8476488" cy="914400"/>
          </a:xfrm>
          <a:prstGeom prst="rect">
            <a:avLst/>
          </a:prstGeom>
          <a:solidFill>
            <a:srgbClr val="0F1F40"/>
          </a:solidFill>
          <a:ln w="7620">
            <a:solidFill>
              <a:srgbClr val="00E5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33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5488" y="4187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D600"/>
                </a:solidFill>
              </a:rPr>
              <a:t>Key Differentiators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75488" y="44805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A4AE"/>
                </a:solidFill>
              </a:rPr>
              <a:t>Pure HTML/CSS/JS — no Canvas, no frameworks, no build step.   ·   Quantum mechanics are the core mechanic, not decoration.   ·   Procedural generation means infinite replayability.   ·   Fully keyboard, mouse, and touch accessible.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Preparation — Anticipated Viva Questions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20117"/>
          </a:xfrm>
          <a:prstGeom prst="rect">
            <a:avLst/>
          </a:prstGeom>
          <a:solidFill>
            <a:srgbClr val="00E5FF">
              <a:alpha val="4500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841248"/>
            <a:ext cx="329184" cy="329184"/>
          </a:xfrm>
          <a:prstGeom prst="rect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841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</a:rPr>
              <a:t>Q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68096" y="8412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Why recursive backtracking instead of Prim's / Kruskal's?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68096" y="111556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</a:rPr>
              <a:t>→ DFS backtracking naturally produces long winding corridors — ideal for maze-feel. Prim's gives shorter, bushier mazes. We optimised for the puzzle experience, not random graph properties.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7472" y="1408176"/>
            <a:ext cx="8449056" cy="9144"/>
          </a:xfrm>
          <a:prstGeom prst="rect">
            <a:avLst/>
          </a:prstGeom>
          <a:solidFill>
            <a:srgbClr val="90A4AE">
              <a:alpha val="20000"/>
            </a:srgbClr>
          </a:solidFill>
          <a:ln w="12700">
            <a:solidFill>
              <a:srgbClr val="90A4AE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463040"/>
            <a:ext cx="329184" cy="329184"/>
          </a:xfrm>
          <a:prstGeom prst="rect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463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</a:rPr>
              <a:t>Q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8096" y="1463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How is Math.random() used and can it cause unfair collapses?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68096" y="173736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</a:rPr>
              <a:t>→ collapseMeasurement() calls Math.random() once to pick an index from the ghosts array. Each ghost has equal probability, matching true quantum measurement. The player knowingly accepts the risk when they split — same as real quantum systems.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7472" y="2029968"/>
            <a:ext cx="8449056" cy="9144"/>
          </a:xfrm>
          <a:prstGeom prst="rect">
            <a:avLst/>
          </a:prstGeom>
          <a:solidFill>
            <a:srgbClr val="90A4AE">
              <a:alpha val="20000"/>
            </a:srgbClr>
          </a:solidFill>
          <a:ln w="12700">
            <a:solidFill>
              <a:srgbClr val="90A4AE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" y="2084832"/>
            <a:ext cx="329184" cy="329184"/>
          </a:xfrm>
          <a:prstGeom prst="rect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084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</a:rPr>
              <a:t>Q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68096" y="20848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Why localStorage instead of a backend/database?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68096" y="235915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</a:rPr>
              <a:t>→ The project is a client-side static game. localStorage provides zero-latency persistence with no server infrastructure. For a multiplayer leaderboard (future work), we would switch to Firebase or Supabase.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47472" y="2651760"/>
            <a:ext cx="8449056" cy="9144"/>
          </a:xfrm>
          <a:prstGeom prst="rect">
            <a:avLst/>
          </a:prstGeom>
          <a:solidFill>
            <a:srgbClr val="90A4AE">
              <a:alpha val="20000"/>
            </a:srgbClr>
          </a:solidFill>
          <a:ln w="12700">
            <a:solidFill>
              <a:srgbClr val="90A4AE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2706624"/>
            <a:ext cx="329184" cy="329184"/>
          </a:xfrm>
          <a:prstGeom prst="rect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2706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</a:rPr>
              <a:t>Q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68096" y="270662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What happens if the player runs out of splits and measures?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68096" y="2980944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</a:rPr>
              <a:t>→ They continue in classical mode — no superposition possible. They must navigate to the exit deterministically. On harder modes this raises difficulty significantly, which is intentional by design.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47472" y="3273552"/>
            <a:ext cx="8449056" cy="9144"/>
          </a:xfrm>
          <a:prstGeom prst="rect">
            <a:avLst/>
          </a:prstGeom>
          <a:solidFill>
            <a:srgbClr val="90A4AE">
              <a:alpha val="20000"/>
            </a:srgbClr>
          </a:solidFill>
          <a:ln w="12700">
            <a:solidFill>
              <a:srgbClr val="90A4AE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" y="3328416"/>
            <a:ext cx="329184" cy="329184"/>
          </a:xfrm>
          <a:prstGeom prst="rect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33284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</a:rPr>
              <a:t>Q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68096" y="332841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How do you guarantee the exit is always reachable?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68096" y="3602736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</a:rPr>
              <a:t>→ carveMaze() is a DFS that visits every cell. It connects every cell to every other cell — so the exit at (rows−1, cols−1) is always reachable from (0,0). This is a mathematical property of perfect mazes.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47472" y="3895344"/>
            <a:ext cx="8449056" cy="9144"/>
          </a:xfrm>
          <a:prstGeom prst="rect">
            <a:avLst/>
          </a:prstGeom>
          <a:solidFill>
            <a:srgbClr val="90A4AE">
              <a:alpha val="20000"/>
            </a:srgbClr>
          </a:solidFill>
          <a:ln w="12700">
            <a:solidFill>
              <a:srgbClr val="90A4AE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" y="3950208"/>
            <a:ext cx="329184" cy="329184"/>
          </a:xfrm>
          <a:prstGeom prst="rect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3950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</a:rPr>
              <a:t>Q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68096" y="39502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Could you use a framework like React?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68096" y="422452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</a:rPr>
              <a:t>→ Yes, and a React port is a listed future-work item. We chose vanilla JS to demonstrate understanding of the DOM, event model, and state management at a fundamental level — without framework abstractions hiding the mechanics.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47472" y="4517136"/>
            <a:ext cx="8449056" cy="9144"/>
          </a:xfrm>
          <a:prstGeom prst="rect">
            <a:avLst/>
          </a:prstGeom>
          <a:solidFill>
            <a:srgbClr val="90A4AE">
              <a:alpha val="20000"/>
            </a:srgbClr>
          </a:solidFill>
          <a:ln w="12700">
            <a:solidFill>
              <a:srgbClr val="90A4AE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7472" y="4572000"/>
            <a:ext cx="329184" cy="329184"/>
          </a:xfrm>
          <a:prstGeom prst="rect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4572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</a:rPr>
              <a:t>Q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68096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How are portals implemented at the data-structure level?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768096" y="484632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</a:rPr>
              <a:t>→ Each portal pair shares a Greek letter key (α, β, γ…). A portals Map stores {letter → [cell1, cell2]}. applyPortals() checks each active position's cell data-portal attribute and teleports to the partner cell in the Map.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2382</Words>
  <Application>Microsoft Office PowerPoint</Application>
  <PresentationFormat>On-screen Show (16:9)</PresentationFormat>
  <Paragraphs>400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Maze Escape – Presentation</dc:title>
  <dc:subject>PptxGenJS Presentation</dc:subject>
  <dc:creator>Group 22</dc:creator>
  <cp:lastModifiedBy>Birru Chennaiah</cp:lastModifiedBy>
  <cp:revision>2</cp:revision>
  <dcterms:created xsi:type="dcterms:W3CDTF">2026-05-13T18:21:36Z</dcterms:created>
  <dcterms:modified xsi:type="dcterms:W3CDTF">2026-06-19T17:47:43Z</dcterms:modified>
</cp:coreProperties>
</file>