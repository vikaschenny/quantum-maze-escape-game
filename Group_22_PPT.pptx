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09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914400"/>
            <a:ext cx="3657600" cy="3657600"/>
          </a:xfrm>
          <a:prstGeom prst="ellipse">
            <a:avLst/>
          </a:prstGeom>
          <a:solidFill>
            <a:srgbClr val="7C3AED">
              <a:alpha val="12000"/>
            </a:srgbClr>
          </a:solidFill>
          <a:ln w="12700">
            <a:solidFill>
              <a:srgbClr val="7C3AED">
                <a:alpha val="12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2286000"/>
            <a:ext cx="3200400" cy="3200400"/>
          </a:xfrm>
          <a:prstGeom prst="ellipse">
            <a:avLst/>
          </a:prstGeom>
          <a:solidFill>
            <a:srgbClr val="00E5FF">
              <a:alpha val="10000"/>
            </a:srgbClr>
          </a:solidFill>
          <a:ln w="12700">
            <a:solidFill>
              <a:srgbClr val="00E5FF">
                <a:alpha val="1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11480" y="274320"/>
            <a:ext cx="1920240" cy="347472"/>
          </a:xfrm>
          <a:prstGeom prst="rect">
            <a:avLst>
              <a:gd name="adj" fmla="val 13158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27432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GROUP 22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11480" y="777240"/>
            <a:ext cx="64008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600" b="1" dirty="0">
                <a:solidFill>
                  <a:srgbClr val="FFFFFF"/>
                </a:solidFill>
              </a:rPr>
              <a:t>QUANTUM</a:t>
            </a:r>
            <a:endParaRPr lang="en-US" sz="5600" dirty="0"/>
          </a:p>
          <a:p>
            <a:pPr indent="0" marL="0">
              <a:buNone/>
            </a:pPr>
            <a:r>
              <a:rPr lang="en-US" sz="5600" b="1" dirty="0">
                <a:solidFill>
                  <a:srgbClr val="00E5FF"/>
                </a:solidFill>
              </a:rPr>
              <a:t>MAZE ESCAPE</a:t>
            </a:r>
            <a:endParaRPr lang="en-US" sz="5600" dirty="0"/>
          </a:p>
        </p:txBody>
      </p:sp>
      <p:sp>
        <p:nvSpPr>
          <p:cNvPr id="7" name="Text 5"/>
          <p:cNvSpPr/>
          <p:nvPr/>
        </p:nvSpPr>
        <p:spPr>
          <a:xfrm>
            <a:off x="411480" y="320040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B0C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Browser-Based Quantum-Mechanics Puzzle Game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411480" y="3703320"/>
            <a:ext cx="4114800" cy="27432"/>
          </a:xfrm>
          <a:prstGeom prst="rect">
            <a:avLst/>
          </a:prstGeom>
          <a:solidFill>
            <a:srgbClr val="00E5FF">
              <a:alpha val="70000"/>
            </a:srgbClr>
          </a:solidFill>
          <a:ln w="12700">
            <a:solidFill>
              <a:srgbClr val="00E5FF">
                <a:alpha val="7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37033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0C4DE"/>
                </a:solidFill>
              </a:rPr>
              <a:t>Team Members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11480" y="4005072"/>
            <a:ext cx="109728" cy="109728"/>
          </a:xfrm>
          <a:prstGeom prst="ellipse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" y="3986784"/>
            <a:ext cx="32004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Member 1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11480" y="4160520"/>
            <a:ext cx="109728" cy="109728"/>
          </a:xfrm>
          <a:prstGeom prst="ellipse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60" y="4142232"/>
            <a:ext cx="32004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Member 2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11480" y="4315968"/>
            <a:ext cx="109728" cy="109728"/>
          </a:xfrm>
          <a:prstGeom prst="ellipse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4360" y="4297680"/>
            <a:ext cx="32004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Member 3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11480" y="4471416"/>
            <a:ext cx="109728" cy="109728"/>
          </a:xfrm>
          <a:prstGeom prst="ellipse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94360" y="4453128"/>
            <a:ext cx="32004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Member 4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11480" y="4626864"/>
            <a:ext cx="109728" cy="109728"/>
          </a:xfrm>
          <a:prstGeom prst="ellipse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94360" y="4608576"/>
            <a:ext cx="3200400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Member 5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035040" y="914400"/>
            <a:ext cx="438912" cy="438912"/>
          </a:xfrm>
          <a:prstGeom prst="rect">
            <a:avLst/>
          </a:prstGeom>
          <a:solidFill>
            <a:srgbClr val="0D2040"/>
          </a:solidFill>
          <a:ln w="6350">
            <a:solidFill>
              <a:srgbClr val="00E5FF">
                <a:alpha val="30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510528" y="914400"/>
            <a:ext cx="438912" cy="438912"/>
          </a:xfrm>
          <a:prstGeom prst="rect">
            <a:avLst/>
          </a:prstGeom>
          <a:solidFill>
            <a:srgbClr val="07091A"/>
          </a:solidFill>
          <a:ln w="6350">
            <a:solidFill>
              <a:srgbClr val="00E5FF">
                <a:alpha val="30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986016" y="914400"/>
            <a:ext cx="438912" cy="438912"/>
          </a:xfrm>
          <a:prstGeom prst="rect">
            <a:avLst/>
          </a:prstGeom>
          <a:solidFill>
            <a:srgbClr val="0D2040"/>
          </a:solidFill>
          <a:ln w="6350">
            <a:solidFill>
              <a:srgbClr val="00E5FF">
                <a:alpha val="30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461504" y="914400"/>
            <a:ext cx="438912" cy="438912"/>
          </a:xfrm>
          <a:prstGeom prst="rect">
            <a:avLst/>
          </a:prstGeom>
          <a:solidFill>
            <a:srgbClr val="07091A"/>
          </a:solidFill>
          <a:ln w="6350">
            <a:solidFill>
              <a:srgbClr val="00E5FF">
                <a:alpha val="30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936992" y="914400"/>
            <a:ext cx="438912" cy="438912"/>
          </a:xfrm>
          <a:prstGeom prst="rect">
            <a:avLst/>
          </a:prstGeom>
          <a:solidFill>
            <a:srgbClr val="0D2040"/>
          </a:solidFill>
          <a:ln w="6350">
            <a:solidFill>
              <a:srgbClr val="00E5FF">
                <a:alpha val="30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8412480" y="914400"/>
            <a:ext cx="438912" cy="438912"/>
          </a:xfrm>
          <a:prstGeom prst="rect">
            <a:avLst/>
          </a:prstGeom>
          <a:solidFill>
            <a:srgbClr val="07091A"/>
          </a:solidFill>
          <a:ln w="6350">
            <a:solidFill>
              <a:srgbClr val="00E5FF">
                <a:alpha val="30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035040" y="1389888"/>
            <a:ext cx="438912" cy="438912"/>
          </a:xfrm>
          <a:prstGeom prst="rect">
            <a:avLst/>
          </a:prstGeom>
          <a:solidFill>
            <a:srgbClr val="07091A"/>
          </a:solidFill>
          <a:ln w="6350">
            <a:solidFill>
              <a:srgbClr val="00E5FF">
                <a:alpha val="30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510528" y="1389888"/>
            <a:ext cx="438912" cy="438912"/>
          </a:xfrm>
          <a:prstGeom prst="rect">
            <a:avLst/>
          </a:prstGeom>
          <a:solidFill>
            <a:srgbClr val="0D2040"/>
          </a:solidFill>
          <a:ln w="6350">
            <a:solidFill>
              <a:srgbClr val="00E5FF">
                <a:alpha val="30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986016" y="1389888"/>
            <a:ext cx="438912" cy="438912"/>
          </a:xfrm>
          <a:prstGeom prst="rect">
            <a:avLst/>
          </a:prstGeom>
          <a:solidFill>
            <a:srgbClr val="07091A"/>
          </a:solidFill>
          <a:ln w="6350">
            <a:solidFill>
              <a:srgbClr val="00E5FF">
                <a:alpha val="30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461504" y="1389888"/>
            <a:ext cx="438912" cy="438912"/>
          </a:xfrm>
          <a:prstGeom prst="rect">
            <a:avLst/>
          </a:prstGeom>
          <a:solidFill>
            <a:srgbClr val="0D2040"/>
          </a:solidFill>
          <a:ln w="6350">
            <a:solidFill>
              <a:srgbClr val="00E5FF">
                <a:alpha val="30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936992" y="1389888"/>
            <a:ext cx="438912" cy="438912"/>
          </a:xfrm>
          <a:prstGeom prst="rect">
            <a:avLst/>
          </a:prstGeom>
          <a:solidFill>
            <a:srgbClr val="07091A"/>
          </a:solidFill>
          <a:ln w="6350">
            <a:solidFill>
              <a:srgbClr val="00E5FF">
                <a:alpha val="30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412480" y="1389888"/>
            <a:ext cx="438912" cy="438912"/>
          </a:xfrm>
          <a:prstGeom prst="rect">
            <a:avLst/>
          </a:prstGeom>
          <a:solidFill>
            <a:srgbClr val="0D2040"/>
          </a:solidFill>
          <a:ln w="6350">
            <a:solidFill>
              <a:srgbClr val="00E5FF">
                <a:alpha val="30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035040" y="1865376"/>
            <a:ext cx="438912" cy="438912"/>
          </a:xfrm>
          <a:prstGeom prst="rect">
            <a:avLst/>
          </a:prstGeom>
          <a:solidFill>
            <a:srgbClr val="0D2040"/>
          </a:solidFill>
          <a:ln w="6350">
            <a:solidFill>
              <a:srgbClr val="00E5FF">
                <a:alpha val="30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510528" y="1865376"/>
            <a:ext cx="438912" cy="438912"/>
          </a:xfrm>
          <a:prstGeom prst="rect">
            <a:avLst/>
          </a:prstGeom>
          <a:solidFill>
            <a:srgbClr val="07091A"/>
          </a:solidFill>
          <a:ln w="6350">
            <a:solidFill>
              <a:srgbClr val="00E5FF">
                <a:alpha val="30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986016" y="1865376"/>
            <a:ext cx="438912" cy="438912"/>
          </a:xfrm>
          <a:prstGeom prst="rect">
            <a:avLst/>
          </a:prstGeom>
          <a:solidFill>
            <a:srgbClr val="0D2040"/>
          </a:solidFill>
          <a:ln w="6350">
            <a:solidFill>
              <a:srgbClr val="00E5FF">
                <a:alpha val="30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461504" y="1865376"/>
            <a:ext cx="438912" cy="438912"/>
          </a:xfrm>
          <a:prstGeom prst="rect">
            <a:avLst/>
          </a:prstGeom>
          <a:solidFill>
            <a:srgbClr val="07091A"/>
          </a:solidFill>
          <a:ln w="6350">
            <a:solidFill>
              <a:srgbClr val="00E5FF">
                <a:alpha val="30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936992" y="1865376"/>
            <a:ext cx="438912" cy="438912"/>
          </a:xfrm>
          <a:prstGeom prst="rect">
            <a:avLst/>
          </a:prstGeom>
          <a:solidFill>
            <a:srgbClr val="0D2040"/>
          </a:solidFill>
          <a:ln w="6350">
            <a:solidFill>
              <a:srgbClr val="00E5FF">
                <a:alpha val="3000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8412480" y="1865376"/>
            <a:ext cx="438912" cy="438912"/>
          </a:xfrm>
          <a:prstGeom prst="rect">
            <a:avLst/>
          </a:prstGeom>
          <a:solidFill>
            <a:srgbClr val="07091A"/>
          </a:solidFill>
          <a:ln w="6350">
            <a:solidFill>
              <a:srgbClr val="00E5FF">
                <a:alpha val="3000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6035040" y="2340864"/>
            <a:ext cx="438912" cy="438912"/>
          </a:xfrm>
          <a:prstGeom prst="rect">
            <a:avLst/>
          </a:prstGeom>
          <a:solidFill>
            <a:srgbClr val="07091A"/>
          </a:solidFill>
          <a:ln w="6350">
            <a:solidFill>
              <a:srgbClr val="00E5FF">
                <a:alpha val="3000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510528" y="2340864"/>
            <a:ext cx="438912" cy="438912"/>
          </a:xfrm>
          <a:prstGeom prst="rect">
            <a:avLst/>
          </a:prstGeom>
          <a:solidFill>
            <a:srgbClr val="0D2040"/>
          </a:solidFill>
          <a:ln w="6350">
            <a:solidFill>
              <a:srgbClr val="00E5FF">
                <a:alpha val="3000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986016" y="2340864"/>
            <a:ext cx="438912" cy="438912"/>
          </a:xfrm>
          <a:prstGeom prst="rect">
            <a:avLst/>
          </a:prstGeom>
          <a:solidFill>
            <a:srgbClr val="07091A"/>
          </a:solidFill>
          <a:ln w="6350">
            <a:solidFill>
              <a:srgbClr val="00E5FF">
                <a:alpha val="3000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7461504" y="2340864"/>
            <a:ext cx="438912" cy="438912"/>
          </a:xfrm>
          <a:prstGeom prst="rect">
            <a:avLst/>
          </a:prstGeom>
          <a:solidFill>
            <a:srgbClr val="0D2040"/>
          </a:solidFill>
          <a:ln w="6350">
            <a:solidFill>
              <a:srgbClr val="00E5FF">
                <a:alpha val="3000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7936992" y="2340864"/>
            <a:ext cx="438912" cy="438912"/>
          </a:xfrm>
          <a:prstGeom prst="rect">
            <a:avLst/>
          </a:prstGeom>
          <a:solidFill>
            <a:srgbClr val="07091A"/>
          </a:solidFill>
          <a:ln w="6350">
            <a:solidFill>
              <a:srgbClr val="00E5FF">
                <a:alpha val="3000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8412480" y="2340864"/>
            <a:ext cx="438912" cy="438912"/>
          </a:xfrm>
          <a:prstGeom prst="rect">
            <a:avLst/>
          </a:prstGeom>
          <a:solidFill>
            <a:srgbClr val="0D2040"/>
          </a:solidFill>
          <a:ln w="6350">
            <a:solidFill>
              <a:srgbClr val="00E5FF">
                <a:alpha val="3000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035040" y="2816352"/>
            <a:ext cx="438912" cy="438912"/>
          </a:xfrm>
          <a:prstGeom prst="rect">
            <a:avLst/>
          </a:prstGeom>
          <a:solidFill>
            <a:srgbClr val="0D2040"/>
          </a:solidFill>
          <a:ln w="6350">
            <a:solidFill>
              <a:srgbClr val="00E5FF">
                <a:alpha val="30000"/>
              </a:srgbClr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6510528" y="2816352"/>
            <a:ext cx="438912" cy="438912"/>
          </a:xfrm>
          <a:prstGeom prst="rect">
            <a:avLst/>
          </a:prstGeom>
          <a:solidFill>
            <a:srgbClr val="07091A"/>
          </a:solidFill>
          <a:ln w="6350">
            <a:solidFill>
              <a:srgbClr val="00E5FF">
                <a:alpha val="30000"/>
              </a:srgbClr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6986016" y="2816352"/>
            <a:ext cx="438912" cy="438912"/>
          </a:xfrm>
          <a:prstGeom prst="rect">
            <a:avLst/>
          </a:prstGeom>
          <a:solidFill>
            <a:srgbClr val="0D2040"/>
          </a:solidFill>
          <a:ln w="6350">
            <a:solidFill>
              <a:srgbClr val="00E5FF">
                <a:alpha val="30000"/>
              </a:srgbClr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7461504" y="2816352"/>
            <a:ext cx="438912" cy="438912"/>
          </a:xfrm>
          <a:prstGeom prst="rect">
            <a:avLst/>
          </a:prstGeom>
          <a:solidFill>
            <a:srgbClr val="07091A"/>
          </a:solidFill>
          <a:ln w="6350">
            <a:solidFill>
              <a:srgbClr val="00E5FF">
                <a:alpha val="30000"/>
              </a:srgbClr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7936992" y="2816352"/>
            <a:ext cx="438912" cy="438912"/>
          </a:xfrm>
          <a:prstGeom prst="rect">
            <a:avLst/>
          </a:prstGeom>
          <a:solidFill>
            <a:srgbClr val="0D2040"/>
          </a:solidFill>
          <a:ln w="6350">
            <a:solidFill>
              <a:srgbClr val="00E5FF">
                <a:alpha val="30000"/>
              </a:srgbClr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8412480" y="2816352"/>
            <a:ext cx="438912" cy="438912"/>
          </a:xfrm>
          <a:prstGeom prst="rect">
            <a:avLst/>
          </a:prstGeom>
          <a:solidFill>
            <a:srgbClr val="07091A"/>
          </a:solidFill>
          <a:ln w="6350">
            <a:solidFill>
              <a:srgbClr val="00E5FF">
                <a:alpha val="30000"/>
              </a:srgbClr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6035040" y="3291840"/>
            <a:ext cx="438912" cy="438912"/>
          </a:xfrm>
          <a:prstGeom prst="rect">
            <a:avLst/>
          </a:prstGeom>
          <a:solidFill>
            <a:srgbClr val="07091A"/>
          </a:solidFill>
          <a:ln w="6350">
            <a:solidFill>
              <a:srgbClr val="00E5FF">
                <a:alpha val="30000"/>
              </a:srgbClr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6510528" y="3291840"/>
            <a:ext cx="438912" cy="438912"/>
          </a:xfrm>
          <a:prstGeom prst="rect">
            <a:avLst/>
          </a:prstGeom>
          <a:solidFill>
            <a:srgbClr val="0D2040"/>
          </a:solidFill>
          <a:ln w="6350">
            <a:solidFill>
              <a:srgbClr val="00E5FF">
                <a:alpha val="30000"/>
              </a:srgbClr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6986016" y="3291840"/>
            <a:ext cx="438912" cy="438912"/>
          </a:xfrm>
          <a:prstGeom prst="rect">
            <a:avLst/>
          </a:prstGeom>
          <a:solidFill>
            <a:srgbClr val="07091A"/>
          </a:solidFill>
          <a:ln w="6350">
            <a:solidFill>
              <a:srgbClr val="00E5FF">
                <a:alpha val="30000"/>
              </a:srgbClr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7461504" y="3291840"/>
            <a:ext cx="438912" cy="438912"/>
          </a:xfrm>
          <a:prstGeom prst="rect">
            <a:avLst/>
          </a:prstGeom>
          <a:solidFill>
            <a:srgbClr val="0D2040"/>
          </a:solidFill>
          <a:ln w="6350">
            <a:solidFill>
              <a:srgbClr val="00E5FF">
                <a:alpha val="30000"/>
              </a:srgbClr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7936992" y="3291840"/>
            <a:ext cx="438912" cy="438912"/>
          </a:xfrm>
          <a:prstGeom prst="rect">
            <a:avLst/>
          </a:prstGeom>
          <a:solidFill>
            <a:srgbClr val="07091A"/>
          </a:solidFill>
          <a:ln w="6350">
            <a:solidFill>
              <a:srgbClr val="00E5FF">
                <a:alpha val="30000"/>
              </a:srgbClr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8412480" y="3291840"/>
            <a:ext cx="438912" cy="438912"/>
          </a:xfrm>
          <a:prstGeom prst="rect">
            <a:avLst/>
          </a:prstGeom>
          <a:solidFill>
            <a:srgbClr val="0D2040"/>
          </a:solidFill>
          <a:ln w="6350">
            <a:solidFill>
              <a:srgbClr val="00E5FF">
                <a:alpha val="30000"/>
              </a:srgbClr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6126480" y="1005840"/>
            <a:ext cx="292608" cy="292608"/>
          </a:xfrm>
          <a:prstGeom prst="ellipse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8412480" y="329184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4FA3"/>
                </a:solidFill>
              </a:rPr>
              <a:t>★</a:t>
            </a:r>
            <a:endParaRPr lang="en-US" sz="1800" dirty="0"/>
          </a:p>
        </p:txBody>
      </p:sp>
      <p:sp>
        <p:nvSpPr>
          <p:cNvPr id="58" name="Shape 56"/>
          <p:cNvSpPr/>
          <p:nvPr/>
        </p:nvSpPr>
        <p:spPr>
          <a:xfrm>
            <a:off x="7077456" y="1956816"/>
            <a:ext cx="292608" cy="292608"/>
          </a:xfrm>
          <a:prstGeom prst="ellipse">
            <a:avLst/>
          </a:prstGeom>
          <a:solidFill>
            <a:srgbClr val="00E5FF">
              <a:alpha val="45000"/>
            </a:srgbClr>
          </a:solidFill>
          <a:ln w="12700">
            <a:solidFill>
              <a:srgbClr val="00E5FF">
                <a:alpha val="45000"/>
              </a:srgbClr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8028432" y="1005840"/>
            <a:ext cx="292608" cy="292608"/>
          </a:xfrm>
          <a:prstGeom prst="ellipse">
            <a:avLst/>
          </a:prstGeom>
          <a:solidFill>
            <a:srgbClr val="7C3AED">
              <a:alpha val="55000"/>
            </a:srgbClr>
          </a:solidFill>
          <a:ln w="12700">
            <a:solidFill>
              <a:srgbClr val="7C3AED">
                <a:alpha val="55000"/>
              </a:srgbClr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411480" y="4754880"/>
            <a:ext cx="8321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B0C4DE"/>
                </a:solidFill>
              </a:rPr>
              <a:t>CS / Software Engineering  ·  Academic Presentation  ·  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709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8321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 &amp; Motivation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11480" y="850392"/>
            <a:ext cx="8321040" cy="22860"/>
          </a:xfrm>
          <a:prstGeom prst="rect">
            <a:avLst/>
          </a:prstGeom>
          <a:solidFill>
            <a:srgbClr val="00E5FF">
              <a:alpha val="40000"/>
            </a:srgbClr>
          </a:solidFill>
          <a:ln w="12700">
            <a:solidFill>
              <a:srgbClr val="00E5FF">
                <a:alpha val="4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1097280"/>
            <a:ext cx="8412480" cy="1097280"/>
          </a:xfrm>
          <a:prstGeom prst="rect">
            <a:avLst/>
          </a:prstGeom>
          <a:solidFill>
            <a:srgbClr val="1A2744"/>
          </a:solidFill>
          <a:ln w="9525">
            <a:solidFill>
              <a:srgbClr val="00E5FF">
                <a:alpha val="45000"/>
              </a:srgbClr>
            </a:solidFill>
            <a:prstDash val="solid"/>
          </a:ln>
          <a:effectLst>
            <a:outerShdw sx="100000" sy="100000" kx="0" ky="0" algn="bl" rotWithShape="0" blurRad="127000" dist="38100" dir="8100000">
              <a:srgbClr val="000033">
                <a:alpha val="4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02920" y="13716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⚠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1234440" y="1188720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E5FF"/>
                </a:solidFill>
              </a:rPr>
              <a:t>Learning Gap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234440" y="1572768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B0C4DE"/>
                </a:solidFill>
              </a:rPr>
              <a:t>Quantum computing concepts (superposition, measurement, entanglement) are abstract and hard to grasp through theory alone.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365760" y="2377440"/>
            <a:ext cx="8412480" cy="1097280"/>
          </a:xfrm>
          <a:prstGeom prst="rect">
            <a:avLst/>
          </a:prstGeom>
          <a:solidFill>
            <a:srgbClr val="1A2744"/>
          </a:solidFill>
          <a:ln w="9525">
            <a:solidFill>
              <a:srgbClr val="00E5FF">
                <a:alpha val="45000"/>
              </a:srgbClr>
            </a:solidFill>
            <a:prstDash val="solid"/>
          </a:ln>
          <a:effectLst>
            <a:outerShdw sx="100000" sy="100000" kx="0" ky="0" algn="bl" rotWithShape="0" blurRad="127000" dist="38100" dir="8100000">
              <a:srgbClr val="000033">
                <a:alpha val="4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02920" y="26517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🎮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1234440" y="2468880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E5FF"/>
                </a:solidFill>
              </a:rPr>
              <a:t>Missing Medium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234440" y="2852928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B0C4DE"/>
                </a:solidFill>
              </a:rPr>
              <a:t>No engaging, accessible browser game bridges quantum mechanics and playful learning for students and enthusiasts.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365760" y="3657600"/>
            <a:ext cx="8412480" cy="1097280"/>
          </a:xfrm>
          <a:prstGeom prst="rect">
            <a:avLst/>
          </a:prstGeom>
          <a:solidFill>
            <a:srgbClr val="1A2744"/>
          </a:solidFill>
          <a:ln w="9525">
            <a:solidFill>
              <a:srgbClr val="00E5FF">
                <a:alpha val="45000"/>
              </a:srgbClr>
            </a:solidFill>
            <a:prstDash val="solid"/>
          </a:ln>
          <a:effectLst>
            <a:outerShdw sx="100000" sy="100000" kx="0" ky="0" algn="bl" rotWithShape="0" blurRad="127000" dist="38100" dir="8100000">
              <a:srgbClr val="000033">
                <a:alpha val="4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502920" y="393192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🧩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1234440" y="3749040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0E5FF"/>
                </a:solidFill>
              </a:rPr>
              <a:t>Gamification Need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234440" y="4133088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B0C4DE"/>
                </a:solidFill>
              </a:rPr>
              <a:t>Traditional puzzle games lack mechanics that reflect the probabilistic, non-deterministic nature of quantum systems.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365760" y="4617720"/>
            <a:ext cx="8412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FF4FA3"/>
                </a:solidFill>
              </a:rPr>
              <a:t>Motivation: Make quantum ideas tangible through play — 100 levels, 6 difficulty modes, real quantum mechanics vocabulary.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709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8321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the Project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11480" y="850392"/>
            <a:ext cx="8321040" cy="22860"/>
          </a:xfrm>
          <a:prstGeom prst="rect">
            <a:avLst/>
          </a:prstGeom>
          <a:solidFill>
            <a:srgbClr val="00E5FF">
              <a:alpha val="40000"/>
            </a:srgbClr>
          </a:solidFill>
          <a:ln w="12700">
            <a:solidFill>
              <a:srgbClr val="00E5FF">
                <a:alpha val="4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1005840"/>
            <a:ext cx="4114800" cy="3474720"/>
          </a:xfrm>
          <a:prstGeom prst="rect">
            <a:avLst/>
          </a:prstGeom>
          <a:solidFill>
            <a:srgbClr val="1A2744"/>
          </a:solidFill>
          <a:ln w="9525">
            <a:solidFill>
              <a:srgbClr val="00E5FF">
                <a:alpha val="45000"/>
              </a:srgbClr>
            </a:solidFill>
            <a:prstDash val="solid"/>
          </a:ln>
          <a:effectLst>
            <a:outerShdw sx="100000" sy="100000" kx="0" ky="0" algn="bl" rotWithShape="0" blurRad="127000" dist="38100" dir="8100000">
              <a:srgbClr val="000033">
                <a:alpha val="4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02920" y="109728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E5FF"/>
                </a:solidFill>
              </a:rPr>
              <a:t>What is Quantum Maze Escape?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12064" y="1618488"/>
            <a:ext cx="109728" cy="109728"/>
          </a:xfrm>
          <a:prstGeom prst="ellipse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581912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A single-page browser puzzle game built with vanilla HTML, CSS, and JavaScript — no external frameworks.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12064" y="2276856"/>
            <a:ext cx="109728" cy="109728"/>
          </a:xfrm>
          <a:prstGeom prst="ellipse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2240280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Players navigate a procedurally generated maze using genuine quantum-mechanics mechanics: superposition, wavefunction collapse, and entanglement portals.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12064" y="2935224"/>
            <a:ext cx="109728" cy="109728"/>
          </a:xfrm>
          <a:prstGeom prst="ellipse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" y="2898648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Designed around 8 core game functions ensuring a clean, modular architecture.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12064" y="3593592"/>
            <a:ext cx="109728" cy="109728"/>
          </a:xfrm>
          <a:prstGeom prst="ellipse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" y="3557016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Persistent progress via localStorage; Web Audio API soundtrack.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754880" y="1005840"/>
            <a:ext cx="2011680" cy="1600200"/>
          </a:xfrm>
          <a:prstGeom prst="rect">
            <a:avLst/>
          </a:prstGeom>
          <a:solidFill>
            <a:srgbClr val="0D1B3E"/>
          </a:solidFill>
          <a:ln w="9525">
            <a:solidFill>
              <a:srgbClr val="00E5FF">
                <a:alpha val="45000"/>
              </a:srgbClr>
            </a:solidFill>
            <a:prstDash val="solid"/>
          </a:ln>
          <a:effectLst>
            <a:outerShdw sx="100000" sy="100000" kx="0" ky="0" algn="bl" rotWithShape="0" blurRad="127000" dist="38100" dir="8100000">
              <a:srgbClr val="000033">
                <a:alpha val="4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754880" y="1234440"/>
            <a:ext cx="2011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00E5FF"/>
                </a:solidFill>
              </a:rPr>
              <a:t>100</a:t>
            </a:r>
            <a:endParaRPr lang="en-US" sz="3800" dirty="0"/>
          </a:p>
        </p:txBody>
      </p:sp>
      <p:sp>
        <p:nvSpPr>
          <p:cNvPr id="16" name="Text 14"/>
          <p:cNvSpPr/>
          <p:nvPr/>
        </p:nvSpPr>
        <p:spPr>
          <a:xfrm>
            <a:off x="4754880" y="205740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0C4DE"/>
                </a:solidFill>
              </a:rPr>
              <a:t>Levels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903720" y="1005840"/>
            <a:ext cx="2011680" cy="1600200"/>
          </a:xfrm>
          <a:prstGeom prst="rect">
            <a:avLst/>
          </a:prstGeom>
          <a:solidFill>
            <a:srgbClr val="0D1B3E"/>
          </a:solidFill>
          <a:ln w="9525">
            <a:solidFill>
              <a:srgbClr val="00E5FF">
                <a:alpha val="45000"/>
              </a:srgbClr>
            </a:solidFill>
            <a:prstDash val="solid"/>
          </a:ln>
          <a:effectLst>
            <a:outerShdw sx="100000" sy="100000" kx="0" ky="0" algn="bl" rotWithShape="0" blurRad="127000" dist="38100" dir="8100000">
              <a:srgbClr val="000033">
                <a:alpha val="4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903720" y="1234440"/>
            <a:ext cx="2011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00E5FF"/>
                </a:solidFill>
              </a:rPr>
              <a:t>6</a:t>
            </a:r>
            <a:endParaRPr lang="en-US" sz="3800" dirty="0"/>
          </a:p>
        </p:txBody>
      </p:sp>
      <p:sp>
        <p:nvSpPr>
          <p:cNvPr id="19" name="Text 17"/>
          <p:cNvSpPr/>
          <p:nvPr/>
        </p:nvSpPr>
        <p:spPr>
          <a:xfrm>
            <a:off x="6903720" y="205740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0C4DE"/>
                </a:solidFill>
              </a:rPr>
              <a:t>Difficulty Modes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754880" y="2788920"/>
            <a:ext cx="2011680" cy="1600200"/>
          </a:xfrm>
          <a:prstGeom prst="rect">
            <a:avLst/>
          </a:prstGeom>
          <a:solidFill>
            <a:srgbClr val="0D1B3E"/>
          </a:solidFill>
          <a:ln w="9525">
            <a:solidFill>
              <a:srgbClr val="00E5FF">
                <a:alpha val="45000"/>
              </a:srgbClr>
            </a:solidFill>
            <a:prstDash val="solid"/>
          </a:ln>
          <a:effectLst>
            <a:outerShdw sx="100000" sy="100000" kx="0" ky="0" algn="bl" rotWithShape="0" blurRad="127000" dist="38100" dir="8100000">
              <a:srgbClr val="000033">
                <a:alpha val="45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754880" y="3017520"/>
            <a:ext cx="2011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00E5FF"/>
                </a:solidFill>
              </a:rPr>
              <a:t>8</a:t>
            </a:r>
            <a:endParaRPr lang="en-US" sz="3800" dirty="0"/>
          </a:p>
        </p:txBody>
      </p:sp>
      <p:sp>
        <p:nvSpPr>
          <p:cNvPr id="22" name="Text 20"/>
          <p:cNvSpPr/>
          <p:nvPr/>
        </p:nvSpPr>
        <p:spPr>
          <a:xfrm>
            <a:off x="4754880" y="384048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0C4DE"/>
                </a:solidFill>
              </a:rPr>
              <a:t>Core Functions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903720" y="2788920"/>
            <a:ext cx="2011680" cy="1600200"/>
          </a:xfrm>
          <a:prstGeom prst="rect">
            <a:avLst/>
          </a:prstGeom>
          <a:solidFill>
            <a:srgbClr val="0D1B3E"/>
          </a:solidFill>
          <a:ln w="9525">
            <a:solidFill>
              <a:srgbClr val="00E5FF">
                <a:alpha val="45000"/>
              </a:srgbClr>
            </a:solidFill>
            <a:prstDash val="solid"/>
          </a:ln>
          <a:effectLst>
            <a:outerShdw sx="100000" sy="100000" kx="0" ky="0" algn="bl" rotWithShape="0" blurRad="127000" dist="38100" dir="8100000">
              <a:srgbClr val="000033">
                <a:alpha val="45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6903720" y="3017520"/>
            <a:ext cx="2011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00E5FF"/>
                </a:solidFill>
              </a:rPr>
              <a:t>~3K</a:t>
            </a:r>
            <a:endParaRPr lang="en-US" sz="3800" dirty="0"/>
          </a:p>
        </p:txBody>
      </p:sp>
      <p:sp>
        <p:nvSpPr>
          <p:cNvPr id="25" name="Text 23"/>
          <p:cNvSpPr/>
          <p:nvPr/>
        </p:nvSpPr>
        <p:spPr>
          <a:xfrm>
            <a:off x="6903720" y="384048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B0C4DE"/>
                </a:solidFill>
              </a:rPr>
              <a:t>Lines of Code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365760" y="4617720"/>
            <a:ext cx="8412480" cy="347472"/>
          </a:xfrm>
          <a:prstGeom prst="rect">
            <a:avLst/>
          </a:prstGeom>
          <a:solidFill>
            <a:srgbClr val="0A1830"/>
          </a:solidFill>
          <a:ln w="9525">
            <a:solidFill>
              <a:srgbClr val="00E5FF">
                <a:alpha val="45000"/>
              </a:srgbClr>
            </a:solidFill>
            <a:prstDash val="solid"/>
          </a:ln>
          <a:effectLst>
            <a:outerShdw sx="100000" sy="100000" kx="0" ky="0" algn="bl" rotWithShape="0" blurRad="127000" dist="38100" dir="8100000">
              <a:srgbClr val="000033">
                <a:alpha val="45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457200" y="463600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B0C4DE"/>
                </a:solidFill>
              </a:rPr>
              <a:t>Tech Stack:  HTML5  ·  CSS3 + Animations  ·  Vanilla JavaScript  ·  Web Audio API  ·  localStorage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709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8321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Done in the Project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11480" y="850392"/>
            <a:ext cx="8321040" cy="22860"/>
          </a:xfrm>
          <a:prstGeom prst="rect">
            <a:avLst/>
          </a:prstGeom>
          <a:solidFill>
            <a:srgbClr val="00E5FF">
              <a:alpha val="40000"/>
            </a:srgbClr>
          </a:solidFill>
          <a:ln w="12700">
            <a:solidFill>
              <a:srgbClr val="00E5FF">
                <a:alpha val="4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1005840"/>
            <a:ext cx="4251960" cy="896112"/>
          </a:xfrm>
          <a:prstGeom prst="rect">
            <a:avLst/>
          </a:prstGeom>
          <a:solidFill>
            <a:srgbClr val="1A2744"/>
          </a:solidFill>
          <a:ln w="9525">
            <a:solidFill>
              <a:srgbClr val="00E5FF">
                <a:alpha val="45000"/>
              </a:srgbClr>
            </a:solidFill>
            <a:prstDash val="solid"/>
          </a:ln>
          <a:effectLst>
            <a:outerShdw sx="100000" sy="100000" kx="0" ky="0" algn="bl" rotWithShape="0" blurRad="127000" dist="38100" dir="8100000">
              <a:srgbClr val="000033">
                <a:alpha val="4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75488" y="1069848"/>
            <a:ext cx="4023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getLevelDefinition()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475488" y="1417320"/>
            <a:ext cx="4023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C4DE"/>
                </a:solidFill>
              </a:rPr>
              <a:t>Returns maze config (size, portals, orbs, limits) per level &amp; difficulty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800600" y="1005840"/>
            <a:ext cx="4251960" cy="896112"/>
          </a:xfrm>
          <a:prstGeom prst="rect">
            <a:avLst/>
          </a:prstGeom>
          <a:solidFill>
            <a:srgbClr val="1A2744"/>
          </a:solidFill>
          <a:ln w="9525">
            <a:solidFill>
              <a:srgbClr val="00E5FF">
                <a:alpha val="45000"/>
              </a:srgbClr>
            </a:solidFill>
            <a:prstDash val="solid"/>
          </a:ln>
          <a:effectLst>
            <a:outerShdw sx="100000" sy="100000" kx="0" ky="0" algn="bl" rotWithShape="0" blurRad="127000" dist="38100" dir="8100000">
              <a:srgbClr val="000033">
                <a:alpha val="4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910328" y="1069848"/>
            <a:ext cx="4023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carveMaze()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4910328" y="1417320"/>
            <a:ext cx="4023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C4DE"/>
                </a:solidFill>
              </a:rPr>
              <a:t>Recursive backtracking DFS to generate a perfect maze grid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65760" y="1993392"/>
            <a:ext cx="4251960" cy="896112"/>
          </a:xfrm>
          <a:prstGeom prst="rect">
            <a:avLst/>
          </a:prstGeom>
          <a:solidFill>
            <a:srgbClr val="1A2744"/>
          </a:solidFill>
          <a:ln w="9525">
            <a:solidFill>
              <a:srgbClr val="00E5FF">
                <a:alpha val="45000"/>
              </a:srgbClr>
            </a:solidFill>
            <a:prstDash val="solid"/>
          </a:ln>
          <a:effectLst>
            <a:outerShdw sx="100000" sy="100000" kx="0" ky="0" algn="bl" rotWithShape="0" blurRad="127000" dist="38100" dir="8100000">
              <a:srgbClr val="000033">
                <a:alpha val="45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75488" y="2057400"/>
            <a:ext cx="4023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buildMazeDOM()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475488" y="2404872"/>
            <a:ext cx="4023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C4DE"/>
                </a:solidFill>
              </a:rPr>
              <a:t>Renders the maze as a CSS grid with wall/floor/entity cells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800600" y="1993392"/>
            <a:ext cx="4251960" cy="896112"/>
          </a:xfrm>
          <a:prstGeom prst="rect">
            <a:avLst/>
          </a:prstGeom>
          <a:solidFill>
            <a:srgbClr val="1A2744"/>
          </a:solidFill>
          <a:ln w="9525">
            <a:solidFill>
              <a:srgbClr val="00E5FF">
                <a:alpha val="45000"/>
              </a:srgbClr>
            </a:solidFill>
            <a:prstDash val="solid"/>
          </a:ln>
          <a:effectLst>
            <a:outerShdw sx="100000" sy="100000" kx="0" ky="0" algn="bl" rotWithShape="0" blurRad="127000" dist="38100" dir="8100000">
              <a:srgbClr val="000033">
                <a:alpha val="4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910328" y="2057400"/>
            <a:ext cx="4023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moveDir()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4910328" y="2404872"/>
            <a:ext cx="4023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C4DE"/>
                </a:solidFill>
              </a:rPr>
              <a:t>Handles keyboard/swipe movement, wall collision, and orb collection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65760" y="2980944"/>
            <a:ext cx="4251960" cy="896112"/>
          </a:xfrm>
          <a:prstGeom prst="rect">
            <a:avLst/>
          </a:prstGeom>
          <a:solidFill>
            <a:srgbClr val="1A2744"/>
          </a:solidFill>
          <a:ln w="9525">
            <a:solidFill>
              <a:srgbClr val="00E5FF">
                <a:alpha val="45000"/>
              </a:srgbClr>
            </a:solidFill>
            <a:prstDash val="solid"/>
          </a:ln>
          <a:effectLst>
            <a:outerShdw sx="100000" sy="100000" kx="0" ky="0" algn="bl" rotWithShape="0" blurRad="127000" dist="38100" dir="8100000">
              <a:srgbClr val="000033">
                <a:alpha val="45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75488" y="3044952"/>
            <a:ext cx="4023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createSuperposition()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475488" y="3392424"/>
            <a:ext cx="4023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C4DE"/>
                </a:solidFill>
              </a:rPr>
              <a:t>Spawns 2–3 ghost tokens at adjacent open cells; sets quantum state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800600" y="2980944"/>
            <a:ext cx="4251960" cy="896112"/>
          </a:xfrm>
          <a:prstGeom prst="rect">
            <a:avLst/>
          </a:prstGeom>
          <a:solidFill>
            <a:srgbClr val="1A2744"/>
          </a:solidFill>
          <a:ln w="9525">
            <a:solidFill>
              <a:srgbClr val="00E5FF">
                <a:alpha val="45000"/>
              </a:srgbClr>
            </a:solidFill>
            <a:prstDash val="solid"/>
          </a:ln>
          <a:effectLst>
            <a:outerShdw sx="100000" sy="100000" kx="0" ky="0" algn="bl" rotWithShape="0" blurRad="127000" dist="38100" dir="8100000">
              <a:srgbClr val="000033">
                <a:alpha val="4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910328" y="3044952"/>
            <a:ext cx="4023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collapseMeasurement()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4910328" y="3392424"/>
            <a:ext cx="4023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C4DE"/>
                </a:solidFill>
              </a:rPr>
              <a:t>Randomly selects one ghost as the canonical player position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3968496"/>
            <a:ext cx="4251960" cy="896112"/>
          </a:xfrm>
          <a:prstGeom prst="rect">
            <a:avLst/>
          </a:prstGeom>
          <a:solidFill>
            <a:srgbClr val="1A2744"/>
          </a:solidFill>
          <a:ln w="9525">
            <a:solidFill>
              <a:srgbClr val="00E5FF">
                <a:alpha val="45000"/>
              </a:srgbClr>
            </a:solidFill>
            <a:prstDash val="solid"/>
          </a:ln>
          <a:effectLst>
            <a:outerShdw sx="100000" sy="100000" kx="0" ky="0" algn="bl" rotWithShape="0" blurRad="127000" dist="38100" dir="8100000">
              <a:srgbClr val="000033">
                <a:alpha val="45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475488" y="4032504"/>
            <a:ext cx="4023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applyPortals()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475488" y="4379976"/>
            <a:ext cx="4023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C4DE"/>
                </a:solidFill>
              </a:rPr>
              <a:t>Teleports player/ghosts when landing on paired entanglement tiles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800600" y="3968496"/>
            <a:ext cx="4251960" cy="896112"/>
          </a:xfrm>
          <a:prstGeom prst="rect">
            <a:avLst/>
          </a:prstGeom>
          <a:solidFill>
            <a:srgbClr val="1A2744"/>
          </a:solidFill>
          <a:ln w="9525">
            <a:solidFill>
              <a:srgbClr val="00E5FF">
                <a:alpha val="45000"/>
              </a:srgbClr>
            </a:solidFill>
            <a:prstDash val="solid"/>
          </a:ln>
          <a:effectLst>
            <a:outerShdw sx="100000" sy="100000" kx="0" ky="0" algn="bl" rotWithShape="0" blurRad="127000" dist="38100" dir="8100000">
              <a:srgbClr val="000033">
                <a:alpha val="45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4910328" y="4032504"/>
            <a:ext cx="4023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0E5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resolveTurn()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4910328" y="4379976"/>
            <a:ext cx="4023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C4DE"/>
                </a:solidFill>
              </a:rPr>
              <a:t>Runs end-of-turn pipeline: portals → win check → score update → DOM sync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365760" y="4919472"/>
            <a:ext cx="8412480" cy="320040"/>
          </a:xfrm>
          <a:prstGeom prst="rect">
            <a:avLst/>
          </a:prstGeom>
          <a:solidFill>
            <a:srgbClr val="0A1830"/>
          </a:solidFill>
          <a:ln w="9525">
            <a:solidFill>
              <a:srgbClr val="00E5FF">
                <a:alpha val="45000"/>
              </a:srgbClr>
            </a:solidFill>
            <a:prstDash val="solid"/>
          </a:ln>
          <a:effectLst>
            <a:outerShdw sx="100000" sy="100000" kx="0" ky="0" algn="bl" rotWithShape="0" blurRad="127000" dist="38100" dir="8100000">
              <a:srgbClr val="000033">
                <a:alpha val="45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502920" y="493776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C4DE"/>
                </a:solidFill>
              </a:rPr>
              <a:t>Features:  Procedural Gen  ·  Touch / Swipe  ·  6 Difficulty Tiers  ·  Web Audio  ·  Particle FX  ·  localStorage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709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8321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11480" y="850392"/>
            <a:ext cx="8321040" cy="22860"/>
          </a:xfrm>
          <a:prstGeom prst="rect">
            <a:avLst/>
          </a:prstGeom>
          <a:solidFill>
            <a:srgbClr val="00E5FF">
              <a:alpha val="40000"/>
            </a:srgbClr>
          </a:solidFill>
          <a:ln w="12700">
            <a:solidFill>
              <a:srgbClr val="00E5FF">
                <a:alpha val="4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1005840"/>
            <a:ext cx="4572000" cy="3931920"/>
          </a:xfrm>
          <a:prstGeom prst="rect">
            <a:avLst/>
          </a:prstGeom>
          <a:solidFill>
            <a:srgbClr val="1A2744"/>
          </a:solidFill>
          <a:ln w="9525">
            <a:solidFill>
              <a:srgbClr val="00E5FF">
                <a:alpha val="45000"/>
              </a:srgbClr>
            </a:solidFill>
            <a:prstDash val="solid"/>
          </a:ln>
          <a:effectLst>
            <a:outerShdw sx="100000" sy="100000" kx="0" ky="0" algn="bl" rotWithShape="0" blurRad="127000" dist="38100" dir="8100000">
              <a:srgbClr val="000033">
                <a:alpha val="4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02920" y="1051560"/>
            <a:ext cx="4206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E5FF"/>
                </a:solidFill>
              </a:rPr>
              <a:t>Feature Verification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30352" y="1481328"/>
            <a:ext cx="320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E676"/>
                </a:solidFill>
              </a:rPr>
              <a:t>✔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96112" y="1481328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Fully playable in any modern browser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30352" y="1865376"/>
            <a:ext cx="320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E676"/>
                </a:solidFill>
              </a:rPr>
              <a:t>✔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96112" y="1865376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100 procedural levels × 6 difficulty modes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30352" y="2249424"/>
            <a:ext cx="320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E676"/>
                </a:solidFill>
              </a:rPr>
              <a:t>✔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96112" y="2249424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Superposition (Split) mechanic working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30352" y="2633472"/>
            <a:ext cx="320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E676"/>
                </a:solidFill>
              </a:rPr>
              <a:t>✔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96112" y="2633472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Wavefunction collapse (Measure) working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30352" y="3017520"/>
            <a:ext cx="320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E676"/>
                </a:solidFill>
              </a:rPr>
              <a:t>✔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96112" y="301752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Entanglement portal teleportation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30352" y="3401568"/>
            <a:ext cx="320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E676"/>
                </a:solidFill>
              </a:rPr>
              <a:t>✔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96112" y="3401568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Persistent progress via localStorage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30352" y="3785616"/>
            <a:ext cx="320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E676"/>
                </a:solidFill>
              </a:rPr>
              <a:t>✔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96112" y="3785616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Web Audio API sound &amp; background music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30352" y="4169664"/>
            <a:ext cx="320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E676"/>
                </a:solidFill>
              </a:rPr>
              <a:t>✔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896112" y="4169664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Mobile touch/swipe controls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30352" y="4553712"/>
            <a:ext cx="320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E676"/>
                </a:solidFill>
              </a:rPr>
              <a:t>✔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896112" y="4553712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Win overlay, title screen, rules modal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166360" y="1005840"/>
            <a:ext cx="3657600" cy="3931920"/>
          </a:xfrm>
          <a:prstGeom prst="rect">
            <a:avLst/>
          </a:prstGeom>
          <a:solidFill>
            <a:srgbClr val="1A2744"/>
          </a:solidFill>
          <a:ln w="9525">
            <a:solidFill>
              <a:srgbClr val="00E5FF">
                <a:alpha val="45000"/>
              </a:srgbClr>
            </a:solidFill>
            <a:prstDash val="solid"/>
          </a:ln>
          <a:effectLst>
            <a:outerShdw sx="100000" sy="100000" kx="0" ky="0" algn="bl" rotWithShape="0" blurRad="127000" dist="38100" dir="8100000">
              <a:srgbClr val="000033">
                <a:alpha val="45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5303520" y="1051560"/>
            <a:ext cx="3383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E5FF"/>
                </a:solidFill>
              </a:rPr>
              <a:t>Difficulty Scaling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5285232" y="1481328"/>
            <a:ext cx="804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E5FF"/>
                </a:solidFill>
              </a:rPr>
              <a:t>Mode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6126480" y="1481328"/>
            <a:ext cx="804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E5FF"/>
                </a:solidFill>
              </a:rPr>
              <a:t>Size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6967728" y="1481328"/>
            <a:ext cx="804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E5FF"/>
                </a:solidFill>
              </a:rPr>
              <a:t>Splits/Meas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7808976" y="1481328"/>
            <a:ext cx="8046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E5FF"/>
                </a:solidFill>
              </a:rPr>
              <a:t>Portals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5230368" y="1828800"/>
            <a:ext cx="3520440" cy="329184"/>
          </a:xfrm>
          <a:prstGeom prst="rect">
            <a:avLst/>
          </a:prstGeom>
          <a:solidFill>
            <a:srgbClr val="0A1830"/>
          </a:solidFill>
          <a:ln w="12700">
            <a:solidFill>
              <a:srgbClr val="0A183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285232" y="1828800"/>
            <a:ext cx="804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Easy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6126480" y="1828800"/>
            <a:ext cx="804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C4DE"/>
                </a:solidFill>
              </a:rPr>
              <a:t>9×9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967728" y="1828800"/>
            <a:ext cx="804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C4DE"/>
                </a:solidFill>
              </a:rPr>
              <a:t>8/9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7808976" y="1828800"/>
            <a:ext cx="804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C4DE"/>
                </a:solidFill>
              </a:rPr>
              <a:t>2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5230368" y="2167128"/>
            <a:ext cx="3520440" cy="329184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285232" y="2167128"/>
            <a:ext cx="804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Normal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6126480" y="2167128"/>
            <a:ext cx="804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C4DE"/>
                </a:solidFill>
              </a:rPr>
              <a:t>11×11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6967728" y="2167128"/>
            <a:ext cx="804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C4DE"/>
                </a:solidFill>
              </a:rPr>
              <a:t>6/7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7808976" y="2167128"/>
            <a:ext cx="804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C4DE"/>
                </a:solidFill>
              </a:rPr>
              <a:t>3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5230368" y="2505456"/>
            <a:ext cx="3520440" cy="329184"/>
          </a:xfrm>
          <a:prstGeom prst="rect">
            <a:avLst/>
          </a:prstGeom>
          <a:solidFill>
            <a:srgbClr val="0A1830"/>
          </a:solidFill>
          <a:ln w="12700">
            <a:solidFill>
              <a:srgbClr val="0A183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285232" y="2505456"/>
            <a:ext cx="804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Hard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6126480" y="2505456"/>
            <a:ext cx="804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C4DE"/>
                </a:solidFill>
              </a:rPr>
              <a:t>13×13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6967728" y="2505456"/>
            <a:ext cx="804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C4DE"/>
                </a:solidFill>
              </a:rPr>
              <a:t>5/6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7808976" y="2505456"/>
            <a:ext cx="804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C4DE"/>
                </a:solidFill>
              </a:rPr>
              <a:t>4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5230368" y="2843784"/>
            <a:ext cx="3520440" cy="329184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285232" y="2843784"/>
            <a:ext cx="804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Expert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6126480" y="2843784"/>
            <a:ext cx="804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C4DE"/>
                </a:solidFill>
              </a:rPr>
              <a:t>15×15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6967728" y="2843784"/>
            <a:ext cx="804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C4DE"/>
                </a:solidFill>
              </a:rPr>
              <a:t>4/5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7808976" y="2843784"/>
            <a:ext cx="804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C4DE"/>
                </a:solidFill>
              </a:rPr>
              <a:t>5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5230368" y="3182112"/>
            <a:ext cx="3520440" cy="329184"/>
          </a:xfrm>
          <a:prstGeom prst="rect">
            <a:avLst/>
          </a:prstGeom>
          <a:solidFill>
            <a:srgbClr val="0A1830"/>
          </a:solidFill>
          <a:ln w="12700">
            <a:solidFill>
              <a:srgbClr val="0A183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285232" y="3182112"/>
            <a:ext cx="804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Master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6126480" y="3182112"/>
            <a:ext cx="804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C4DE"/>
                </a:solidFill>
              </a:rPr>
              <a:t>17×17</a:t>
            </a:r>
            <a:endParaRPr lang="en-US" sz="1100" dirty="0"/>
          </a:p>
        </p:txBody>
      </p:sp>
      <p:sp>
        <p:nvSpPr>
          <p:cNvPr id="53" name="Text 51"/>
          <p:cNvSpPr/>
          <p:nvPr/>
        </p:nvSpPr>
        <p:spPr>
          <a:xfrm>
            <a:off x="6967728" y="3182112"/>
            <a:ext cx="804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C4DE"/>
                </a:solidFill>
              </a:rPr>
              <a:t>3/4</a:t>
            </a:r>
            <a:endParaRPr lang="en-US" sz="1100" dirty="0"/>
          </a:p>
        </p:txBody>
      </p:sp>
      <p:sp>
        <p:nvSpPr>
          <p:cNvPr id="54" name="Text 52"/>
          <p:cNvSpPr/>
          <p:nvPr/>
        </p:nvSpPr>
        <p:spPr>
          <a:xfrm>
            <a:off x="7808976" y="3182112"/>
            <a:ext cx="804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C4DE"/>
                </a:solidFill>
              </a:rPr>
              <a:t>6</a:t>
            </a:r>
            <a:endParaRPr lang="en-US" sz="1100" dirty="0"/>
          </a:p>
        </p:txBody>
      </p:sp>
      <p:sp>
        <p:nvSpPr>
          <p:cNvPr id="55" name="Shape 53"/>
          <p:cNvSpPr/>
          <p:nvPr/>
        </p:nvSpPr>
        <p:spPr>
          <a:xfrm>
            <a:off x="5230368" y="3520440"/>
            <a:ext cx="3520440" cy="329184"/>
          </a:xfrm>
          <a:prstGeom prst="rect">
            <a:avLst/>
          </a:prstGeom>
          <a:solidFill>
            <a:srgbClr val="1A2744"/>
          </a:solidFill>
          <a:ln w="12700">
            <a:solidFill>
              <a:srgbClr val="1A2744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5285232" y="3520440"/>
            <a:ext cx="804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Extreme</a:t>
            </a:r>
            <a:endParaRPr lang="en-US" sz="1100" dirty="0"/>
          </a:p>
        </p:txBody>
      </p:sp>
      <p:sp>
        <p:nvSpPr>
          <p:cNvPr id="57" name="Text 55"/>
          <p:cNvSpPr/>
          <p:nvPr/>
        </p:nvSpPr>
        <p:spPr>
          <a:xfrm>
            <a:off x="6126480" y="3520440"/>
            <a:ext cx="804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C4DE"/>
                </a:solidFill>
              </a:rPr>
              <a:t>21×21</a:t>
            </a:r>
            <a:endParaRPr lang="en-US" sz="1100" dirty="0"/>
          </a:p>
        </p:txBody>
      </p:sp>
      <p:sp>
        <p:nvSpPr>
          <p:cNvPr id="58" name="Text 56"/>
          <p:cNvSpPr/>
          <p:nvPr/>
        </p:nvSpPr>
        <p:spPr>
          <a:xfrm>
            <a:off x="6967728" y="3520440"/>
            <a:ext cx="804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C4DE"/>
                </a:solidFill>
              </a:rPr>
              <a:t>2/3</a:t>
            </a:r>
            <a:endParaRPr lang="en-US" sz="1100" dirty="0"/>
          </a:p>
        </p:txBody>
      </p:sp>
      <p:sp>
        <p:nvSpPr>
          <p:cNvPr id="59" name="Text 57"/>
          <p:cNvSpPr/>
          <p:nvPr/>
        </p:nvSpPr>
        <p:spPr>
          <a:xfrm>
            <a:off x="7808976" y="3520440"/>
            <a:ext cx="804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B0C4DE"/>
                </a:solidFill>
              </a:rPr>
              <a:t>8</a:t>
            </a:r>
            <a:endParaRPr lang="en-US" sz="1100" dirty="0"/>
          </a:p>
        </p:txBody>
      </p:sp>
      <p:sp>
        <p:nvSpPr>
          <p:cNvPr id="60" name="Text 58"/>
          <p:cNvSpPr/>
          <p:nvPr/>
        </p:nvSpPr>
        <p:spPr>
          <a:xfrm>
            <a:off x="365760" y="4754880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FF4FA3"/>
                </a:solidFill>
              </a:rPr>
              <a:t>All 9 core requirements verified working in browser testing.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709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8321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Way Forward &amp; Learning Outcomes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11480" y="850392"/>
            <a:ext cx="8321040" cy="22860"/>
          </a:xfrm>
          <a:prstGeom prst="rect">
            <a:avLst/>
          </a:prstGeom>
          <a:solidFill>
            <a:srgbClr val="00E5FF">
              <a:alpha val="40000"/>
            </a:srgbClr>
          </a:solidFill>
          <a:ln w="12700">
            <a:solidFill>
              <a:srgbClr val="00E5FF">
                <a:alpha val="4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1005840"/>
            <a:ext cx="4114800" cy="3931920"/>
          </a:xfrm>
          <a:prstGeom prst="rect">
            <a:avLst/>
          </a:prstGeom>
          <a:solidFill>
            <a:srgbClr val="1A2744"/>
          </a:solidFill>
          <a:ln w="9525">
            <a:solidFill>
              <a:srgbClr val="00E5FF">
                <a:alpha val="45000"/>
              </a:srgbClr>
            </a:solidFill>
            <a:prstDash val="solid"/>
          </a:ln>
          <a:effectLst>
            <a:outerShdw sx="100000" sy="100000" kx="0" ky="0" algn="bl" rotWithShape="0" blurRad="127000" dist="38100" dir="8100000">
              <a:srgbClr val="000033">
                <a:alpha val="4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02920" y="1078992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E5FF"/>
                </a:solidFill>
              </a:rPr>
              <a:t>Learning Outcomes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12064" y="1536192"/>
            <a:ext cx="109728" cy="109728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94944" y="150876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Implemented recursive DFS maze generation from scratch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12064" y="2103120"/>
            <a:ext cx="109728" cy="109728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94944" y="2075688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Modelled quantum superposition as multi-state game logic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12064" y="2670048"/>
            <a:ext cx="109728" cy="109728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94944" y="2642616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Used Web Audio API for procedurally-generated SFX &amp; music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12064" y="3236976"/>
            <a:ext cx="109728" cy="109728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94944" y="3209544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Applied CSS custom properties &amp; keyframe animations for a futuristic UI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12064" y="3803904"/>
            <a:ext cx="109728" cy="109728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94944" y="3776472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Managed stateful single-page app without a framework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12064" y="4370832"/>
            <a:ext cx="109728" cy="109728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94944" y="434340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Practised clean, documented function architecture (JSDoc)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709160" y="1005840"/>
            <a:ext cx="4069080" cy="3931920"/>
          </a:xfrm>
          <a:prstGeom prst="rect">
            <a:avLst/>
          </a:prstGeom>
          <a:solidFill>
            <a:srgbClr val="1A2744"/>
          </a:solidFill>
          <a:ln w="9525">
            <a:solidFill>
              <a:srgbClr val="00E5FF">
                <a:alpha val="45000"/>
              </a:srgbClr>
            </a:solidFill>
            <a:prstDash val="solid"/>
          </a:ln>
          <a:effectLst>
            <a:outerShdw sx="100000" sy="100000" kx="0" ky="0" algn="bl" rotWithShape="0" blurRad="127000" dist="38100" dir="8100000">
              <a:srgbClr val="000033">
                <a:alpha val="4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0" y="1078992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4FA3"/>
                </a:solidFill>
              </a:rPr>
              <a:t>Way Forward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800600" y="1508760"/>
            <a:ext cx="3840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🤝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5230368" y="1508760"/>
            <a:ext cx="3429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Multiplayer entanglement – two players share quantum state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800600" y="2075688"/>
            <a:ext cx="3840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🔊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5230368" y="2075688"/>
            <a:ext cx="3429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Richer procedural music with chord progressions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800600" y="2642616"/>
            <a:ext cx="3840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📱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5230368" y="2642616"/>
            <a:ext cx="3429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React Native port for iOS and Android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800600" y="3209544"/>
            <a:ext cx="3840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📊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5230368" y="3209544"/>
            <a:ext cx="3429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Online leaderboard with Firebase/Supabase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800600" y="3776472"/>
            <a:ext cx="3840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🧠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5230368" y="3776472"/>
            <a:ext cx="3429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AI-assisted maze generation using ML path difficulty prediction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4800600" y="4343400"/>
            <a:ext cx="3840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🌐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5230368" y="4343400"/>
            <a:ext cx="3429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Internationalization &amp; accessibility improvements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709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8321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0E5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11480" y="850392"/>
            <a:ext cx="8321040" cy="22860"/>
          </a:xfrm>
          <a:prstGeom prst="rect">
            <a:avLst/>
          </a:prstGeom>
          <a:solidFill>
            <a:srgbClr val="00E5FF">
              <a:alpha val="40000"/>
            </a:srgbClr>
          </a:solidFill>
          <a:ln w="12700">
            <a:solidFill>
              <a:srgbClr val="00E5FF">
                <a:alpha val="4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1124712"/>
            <a:ext cx="292608" cy="292608"/>
          </a:xfrm>
          <a:prstGeom prst="ellipse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12471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7091A"/>
                </a:solidFill>
              </a:rPr>
              <a:t>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49808" y="105156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0C4DE"/>
                </a:solidFill>
              </a:rPr>
              <a:t>MDN Web Docs, "Web Audio API," Mozilla Developer Network. [Online]. Available: https://developer.mozilla.org/en-US/docs/Web/API/Web_Audio_API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65760" y="1783080"/>
            <a:ext cx="292608" cy="292608"/>
          </a:xfrm>
          <a:prstGeom prst="ellipse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7830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7091A"/>
                </a:solidFill>
              </a:rPr>
              <a:t>2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49808" y="1709928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0C4DE"/>
                </a:solidFill>
              </a:rPr>
              <a:t>Nielsen, M.A. &amp; Chuang, I.L., Quantum Computation and Quantum Information. Cambridge University Press, 2010.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65760" y="2441448"/>
            <a:ext cx="292608" cy="292608"/>
          </a:xfrm>
          <a:prstGeom prst="ellipse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244144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7091A"/>
                </a:solidFill>
              </a:rPr>
              <a:t>3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49808" y="2368296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0C4DE"/>
                </a:solidFill>
              </a:rPr>
              <a:t>Buck, B., "Maze Generation: Recursive Backtracking," jamisbuck.org, 2010. [Online]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65760" y="3099816"/>
            <a:ext cx="292608" cy="292608"/>
          </a:xfrm>
          <a:prstGeom prst="ellipse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309981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7091A"/>
                </a:solidFill>
              </a:rPr>
              <a:t>4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49808" y="3026664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0C4DE"/>
                </a:solidFill>
              </a:rPr>
              <a:t>MDN Web Docs, "Using CSS custom properties (variables)." Available: https://developer.mozilla.org/en-US/docs/Web/CSS/--*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65760" y="3758184"/>
            <a:ext cx="292608" cy="292608"/>
          </a:xfrm>
          <a:prstGeom prst="ellipse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375818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7091A"/>
                </a:solidFill>
              </a:rPr>
              <a:t>5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749808" y="3685032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0C4DE"/>
                </a:solidFill>
              </a:rPr>
              <a:t>Devlin, K., "The Mathematics of Games and Puzzles," The Great Courses, 2013.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5760" y="4416552"/>
            <a:ext cx="292608" cy="292608"/>
          </a:xfrm>
          <a:prstGeom prst="ellipse">
            <a:avLst/>
          </a:prstGeom>
          <a:solidFill>
            <a:srgbClr val="00E5FF"/>
          </a:solidFill>
          <a:ln w="12700">
            <a:solidFill>
              <a:srgbClr val="00E5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441655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7091A"/>
                </a:solidFill>
              </a:rPr>
              <a:t>6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749808" y="434340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0C4DE"/>
                </a:solidFill>
              </a:rPr>
              <a:t>HTML Living Standard, WHATWG. Available: https://html.spec.whatwg.org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365760" y="4800600"/>
            <a:ext cx="8412480" cy="27432"/>
          </a:xfrm>
          <a:prstGeom prst="rect">
            <a:avLst/>
          </a:prstGeom>
          <a:solidFill>
            <a:srgbClr val="00E5FF">
              <a:alpha val="45000"/>
            </a:srgbClr>
          </a:solidFill>
          <a:ln w="12700">
            <a:solidFill>
              <a:srgbClr val="00E5FF">
                <a:alpha val="4500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846320"/>
            <a:ext cx="8412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B0C4DE"/>
                </a:solidFill>
              </a:rPr>
              <a:t>Quantum Maze Escape  ·  Group 22  ·  2026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Quantum Maze Escape</dc:title>
  <dc:subject>PptxGenJS Presentation</dc:subject>
  <dc:creator>Group 22</dc:creator>
  <cp:lastModifiedBy>Group 22</cp:lastModifiedBy>
  <cp:revision>1</cp:revision>
  <dcterms:created xsi:type="dcterms:W3CDTF">2026-05-13T18:07:02Z</dcterms:created>
  <dcterms:modified xsi:type="dcterms:W3CDTF">2026-05-13T18:07:02Z</dcterms:modified>
</cp:coreProperties>
</file>